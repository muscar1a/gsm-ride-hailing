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Giá gốc</c:v>
          </c:tx>
          <c:spPr>
            <a:solidFill>
              <a:srgbClr val="83938F"/>
            </a:solidFill>
          </c:spPr>
          <c:invertIfNegative val="1"/>
          <c:dLbls>
            <c:numFmt formatCode="0.0" sourceLinked="0"/>
            <c:spPr>
              <a:noFill/>
              <a:ln>
                <a:noFill/>
              </a:ln>
              <a:effectLst/>
            </c:spPr>
            <c:txPr>
              <a:bodyPr anchorCtr="1"/>
              <a:lstStyle/>
              <a:p>
                <a:pPr>
                  <a:defRPr sz="1650" b="1">
                    <a:solidFill>
                      <a:srgbClr val="183B37"/>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Dịch vụ X</c:v>
                </c:pt>
                <c:pt idx="1">
                  <c:v>Dịch vụ Y</c:v>
                </c:pt>
              </c:strCache>
            </c:strRef>
          </c:cat>
          <c:val>
            <c:numRef>
              <c:f>'Chart Data'!$B$2:$B$3</c:f>
              <c:numCache>
                <c:formatCode>0</c:formatCode>
                <c:ptCount val="2"/>
                <c:pt idx="0">
                  <c:v>276.94</c:v>
                </c:pt>
                <c:pt idx="1">
                  <c:v>208.54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AD2-4282-BAF2-99C5337D4FAB}"/>
            </c:ext>
          </c:extLst>
        </c:ser>
        <c:ser>
          <c:idx val="1"/>
          <c:order val="1"/>
          <c:tx>
            <c:v>X +10%</c:v>
          </c:tx>
          <c:spPr>
            <a:solidFill>
              <a:srgbClr val="087F78"/>
            </a:solidFill>
          </c:spPr>
          <c:invertIfNegative val="1"/>
          <c:dLbls>
            <c:numFmt formatCode="0.0" sourceLinked="0"/>
            <c:spPr>
              <a:noFill/>
              <a:ln>
                <a:noFill/>
              </a:ln>
              <a:effectLst/>
            </c:spPr>
            <c:txPr>
              <a:bodyPr anchorCtr="1"/>
              <a:lstStyle/>
              <a:p>
                <a:pPr>
                  <a:defRPr sz="1650" b="1">
                    <a:solidFill>
                      <a:srgbClr val="183B37"/>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Dịch vụ X</c:v>
                </c:pt>
                <c:pt idx="1">
                  <c:v>Dịch vụ Y</c:v>
                </c:pt>
              </c:strCache>
            </c:strRef>
          </c:cat>
          <c:val>
            <c:numRef>
              <c:f>'Chart Data'!$D$2:$D$3</c:f>
              <c:numCache>
                <c:formatCode>0</c:formatCode>
                <c:ptCount val="2"/>
                <c:pt idx="0">
                  <c:v>232.38</c:v>
                </c:pt>
                <c:pt idx="1">
                  <c:v>215.55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AD2-4282-BAF2-99C5337D4FAB}"/>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DD8D2"/>
            </a:solidFill>
            <a:prstDash val="solid"/>
          </a:ln>
        </c:spPr>
        <c:txPr>
          <a:bodyPr anchorCtr="1"/>
          <a:lstStyle/>
          <a:p>
            <a:pPr>
              <a:defRPr sz="1650">
                <a:solidFill>
                  <a:srgbClr val="183B37"/>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320"/>
          <c:min val="0"/>
        </c:scaling>
        <c:delete val="0"/>
        <c:axPos val="l"/>
        <c:majorGridlines>
          <c:spPr>
            <a:ln w="9525">
              <a:solidFill>
                <a:srgbClr val="CDD8D2"/>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536663"/>
                </a:solidFill>
                <a:latin typeface="Arial"/>
                <a:ea typeface="Arial"/>
                <a:cs typeface="Arial"/>
              </a:defRPr>
            </a:pPr>
            <a:endParaRPr lang="en-US"/>
          </a:p>
        </c:txPr>
        <c:crossAx val="48650112"/>
        <c:crosses val="autoZero"/>
        <c:crossBetween val="between"/>
        <c:majorUnit val="80"/>
      </c:valAx>
      <c:spPr>
        <a:noFill/>
      </c:spPr>
    </c:plotArea>
    <c:legend>
      <c:legendPos val="b"/>
      <c:overlay val="0"/>
      <c:txPr>
        <a:bodyPr anchorCtr="1"/>
        <a:lstStyle/>
        <a:p>
          <a:pPr>
            <a:defRPr sz="1575">
              <a:solidFill>
                <a:srgbClr val="183B37"/>
              </a:solidFill>
              <a:latin typeface="Arial"/>
              <a:ea typeface="Arial"/>
              <a:cs typeface="Arial"/>
            </a:defRPr>
          </a:pPr>
          <a:endParaRPr lang="en-US"/>
        </a:p>
      </c:txPr>
    </c:legend>
    <c:plotVisOnly val="1"/>
    <c:dispBlanksAs val="zero"/>
    <c:showDLblsOverMax val="1"/>
  </c:chart>
  <c:spPr>
    <a:no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khoảng 1 phút. Chào các thành viên mới và giới thiệu lại bài toán mà không giả định mọi người đã xem deck cũ. Dùng câu hỏi X +10% xuyên suốt. Phân biệt mục tiêu nghiên cứu rộng hơn và PoC đã hoàn thành.</a:t>
            </a:r>
          </a:p>
          <a:p>
            <a:r>
              <a:t>Nguồn: docs/reference/GSM_Causal_Marketplace_Proposal.md; docs/WEEK3_POC_SCOPE.md.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Khoảng 2 phút. Giải thích ba đáp ứng bằng ngôn ngữ nghiệp vụ. Cross-service là thay đổi ròng giữa lựa chọn X/Y/NONE, không chứng minh một cá nhân chuyển dịch vụ. Cung lao động là online/tham gia/giờ làm; nhận đơn là một quyết định riêng. Nhánh cung có controlled evidence độc lập nhưng không được dùng để thay đổi roster PoC hiện tại.</a:t>
            </a:r>
          </a:p>
          <a:p>
            <a:endParaRPr/>
          </a:p>
          <a:p>
            <a:r>
              <a:t>Nguồn: docs/reference/GSM_Causal_Marketplace_Proposal.md; docs/IDENTIFICATION.md; docs/WEEK3_POC_SCOPE.md</a:t>
            </a:r>
          </a:p>
          <a:p>
            <a:r>
              <a:t>Ngày chốt: 12/10/2026, Asia/Bangkok. Các đường dẫn tính từ thư mục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Khoảng 2 phút. Đây là sơ đồ nhân quả minh họa, không phải dữ liệu đã đo. Bối cảnh có thể tạo tương quan dương giữa giá và chuyến dù hiệu ứng của giá lên lựa chọn là âm. Mục tiêu là so cùng một bối cảnh dưới hai chính sách giá; cần assignment, pretreatment context và support. Không khẳng định observed data đã đủ nhận diện.</a:t>
            </a:r>
          </a:p>
          <a:p>
            <a:endParaRPr/>
          </a:p>
          <a:p>
            <a:r>
              <a:t>Nguồn: docs/reference/GSM_Causal_Marketplace_Proposal.md; docs/IDENTIFICATION.md</a:t>
            </a:r>
          </a:p>
          <a:p>
            <a:r>
              <a:t>Ngày chốt: 12/10/2026, Asia/Bangkok. Các đường dẫn tính từ thư mục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Khoảng 2 phút. TLC là completed-trip context công khai, không có toàn bộ quote/no-booker/failed request/fleet. Synthetic data có truth để kiểm tra khôi phục hiệu ứng và cơ chế. Chưa có kết quả hiệu chỉnh hoặc causal GSM trong gói hiện tại. Nêu tình trạng bàn giao nguồn với GSM tại buổi họp; không coi hợp đồng yêu cầu dữ liệu là bằng chứng đã nhận dữ liệu.</a:t>
            </a:r>
          </a:p>
          <a:p>
            <a:endParaRPr/>
          </a:p>
          <a:p>
            <a:r>
              <a:t>Nguồn: docs/IDENTIFICATION.md; docs/GSM_DATA_CONTRACT.md; docs/WEEK3_POC_SCOPE.md</a:t>
            </a:r>
          </a:p>
          <a:p>
            <a:r>
              <a:t>Ngày chốt: 12/10/2026, Asia/Bangkok. Các đường dẫn tính từ thư mục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Khoảng 2 phút. Tuần 3 được Bun nghiệm thu trong phạm vi thu hẹp, không phải GSM nghiệm thu hiệu ứng thực tế. Roster cố định chung cho X/Y, tài xế từ chối vẫn online. Acceptance 0.8 là synthetic price-independent, response 3s, timeout 10s, max 20 attempts và pickup deadline 300s. Completed trips nhận 100% displayed fare theo giả định đã duyệt; tiền là SYNTHETIC_UNIT, chưa trừ chi phí. Không đồng nhất nhận đơn với co giãn lao động.</a:t>
            </a:r>
          </a:p>
          <a:p>
            <a:endParaRPr/>
          </a:p>
          <a:p>
            <a:r>
              <a:t>Nguồn: docs/WEEK3_POC_SCOPE.md; docs/submission/days/20261012/week3_poc_closeout.md</a:t>
            </a:r>
          </a:p>
          <a:p>
            <a:r>
              <a:t>Ngày chốt: 12/10/2026, Asia/Bangkok. Các đường dẫn tính từ thư mục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Khoảng 2 phút. Chỉ giải thích logic, không trình bày tên module. Choice forecast áp dụng cho tập quote viewers cố định; mô hình phản ứng quote exposure với giá chưa được triển khai. NONE không sinh request. Roster online cố định; offer có acceptance/rejection/timeout/withdrawal. Tiền chỉ settle khi completed. Checkpoints giữ carryover. Forecast có support gate; không tạo ra thêm capacity khi không có tài xế.</a:t>
            </a:r>
          </a:p>
          <a:p>
            <a:endParaRPr/>
          </a:p>
          <a:p>
            <a:r>
              <a:t>Nguồn: docs/WEEK3_POC_SCOPE.md; docs/IDENTIFICATION.md; docs/submission/days/20261012/week3_poc_closeout.md</a:t>
            </a:r>
          </a:p>
          <a:p>
            <a:r>
              <a:t>Ngày chốt: 12/10/2026, Asia/Bangkok. Các đường dẫn tính từ thư mục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Khoảng 2 phút. Chỉ ra cách xem baseline và X+10 trên demo. Chart dùng trung bình thực tế của 100 simulated trajectories, không phải expected counts từ demand plan và không phải demand GSM. Net Y tăng không chứng minh từng khách X chuyển sang Y. 800 quote sessions, 16 blocks, zones 161/162. Requests không đồng nghĩa completed trips. Nguồn machine-readable: runs/week3-poc-assessment-20261012-v3/marketplace_evaluation.json, comparison. Các giá trị X 276.94/232.38, Y 208.54/215.55; tổng 485.48/447.93. Chênh lệch tổng -37.55, 95% MC conditional [-39.083,-36.017].</a:t>
            </a:r>
          </a:p>
          <a:p>
            <a:endParaRPr/>
          </a:p>
          <a:p>
            <a:r>
              <a:t>Nguồn: docs/submission/days/20261012/week3_poc_closeout.md; artifacts/research/20261012/week3_poc_verification.json</a:t>
            </a:r>
          </a:p>
          <a:p>
            <a:r>
              <a:t>Ngày chốt: 12/10/2026, Asia/Bangkok. Các đường dẫn tính từ thư mục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Khoảng 2 phút. Các giá trị đúng lấy từ comparison. Hoàn tất tăng nhỏ không đủ khuyến nghị tăng giá. Capacity nghẽn mạnh vì khoảng 450–485 requests và chỉ 2 drivers, nhiều request expire/pickup aborted. Mean wait chỉ trong nhóm pickup observed; trung bình các run-level means. Driver pay là gross synthetic units, không VND/net income/profit. Nếu demo live dùng baseline run week3-poc-baseline-20261012-v3 và target week3-poc-x-plus10-20261012-v3; số live là single-seed, khác trung bình assessment trên slide. Không nhầm cùng một bộ số.</a:t>
            </a:r>
          </a:p>
          <a:p>
            <a:endParaRPr/>
          </a:p>
          <a:p>
            <a:r>
              <a:t>Nguồn: docs/submission/days/20261012/week3_poc_closeout.md; artifacts/research/20261012/week3_poc_verification.json</a:t>
            </a:r>
          </a:p>
          <a:p>
            <a:r>
              <a:t>Ngày chốt: 12/10/2026, Asia/Bangkok. Các đường dẫn tính từ thư mục repository.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Chốt ba mức hoàn thành trong phạm vi PoC. Cột đã triển khai gồm TLC pipeline, controlled choice estimation, marketplace fixed-online offers/completed-only compensation, dashboard reading/export. Kịch bản giá và tài xế mới có controlled synthetic behavior, chưa calibration GSM. Online/offline và phản ứng giờ làm chưa được đưa vào current marketplace. Independent controlled labor package đã tồn tại riêng trong docs/WEEK3_SUPPLY.md, không được mô tả là chưa có bất kỳ mô hình cung nào trong toàn bộ project. MC intervals condition on fitted demand/rules, chưa full-chain uncertainty. Cân bằng, lợi nhuận/ROI thực tế còn mở. Nguồn: docs/WEEK3_POC_SCOPE.md; docs/submission/days/20261012/week3_poc_closeout.md; README.md. Hình tham chiếu dùng cho bố cục ba cột, nội dung ví dụ không thuộc project này.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C95EB5C-13A7-4093-9164-EBEECA4F418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9BE9C2A9-10B1-432F-BEB7-8E48FAB8854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8EDEEDB-2D00-4B9C-BF07-AE334F9873D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603298F-D94A-4A58-B6A7-BFEF4855389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AB9D191-7797-4ABE-BD2F-37A5D83F16D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28D39BD-3C41-4499-8AE2-3E1D031FC3A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31154BE-1A17-4DDB-916B-9299DA9A626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FD8BDBFE-EA0E-4981-9170-87C245480DD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1C726C5-E912-4EB8-9E26-3EBED6757CA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0781182-A8A5-460F-BB62-8D37C43A67C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3B3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CD6B17-3157-4316-8A6A-5E2BF0FDC0F1}"/>
              </a:ext>
            </a:extLst>
          </p:cNvPr>
          <p:cNvSpPr>
            <a:spLocks noGrp="1"/>
          </p:cNvSpPr>
          <p:nvPr/>
        </p:nvSpPr>
        <p:spPr>
          <a:xfrm>
            <a:off x="762000" y="571500"/>
            <a:ext cx="10477500" cy="342900"/>
          </a:xfrm>
          <a:prstGeom prst="rect">
            <a:avLst/>
          </a:prstGeom>
          <a:noFill/>
          <a:ln w="0">
            <a:noFill/>
            <a:prstDash val="solid"/>
          </a:ln>
        </p:spPr>
        <p:txBody>
          <a:bodyPr lIns="0" tIns="0" rIns="0" bIns="0" anchor="t"/>
          <a:lstStyle>
            <a:defPPr algn="l">
              <a:defRPr sz="1800" b="1">
                <a:solidFill>
                  <a:srgbClr val="D6E8DF"/>
                </a:solidFill>
                <a:latin typeface="Arial"/>
                <a:ea typeface="Arial"/>
                <a:cs typeface="Arial"/>
              </a:defRPr>
            </a:defPPr>
          </a:lstStyle>
          <a:p>
            <a:pPr algn="l">
              <a:defRPr sz="1800" b="1">
                <a:solidFill>
                  <a:srgbClr val="D6E8DF"/>
                </a:solidFill>
                <a:latin typeface="Arial"/>
                <a:ea typeface="Arial"/>
                <a:cs typeface="Arial"/>
              </a:defRPr>
            </a:pPr>
            <a:r>
              <a:rPr sz="1800" b="1">
                <a:solidFill>
                  <a:srgbClr val="D6E8DF"/>
                </a:solidFill>
                <a:latin typeface="Arial"/>
                <a:ea typeface="Arial"/>
                <a:cs typeface="Arial"/>
              </a:rPr>
              <a:t>GSM · SYNC-UP</a:t>
            </a:r>
          </a:p>
        </p:txBody>
      </p:sp>
      <p:sp>
        <p:nvSpPr>
          <p:cNvPr id="2" name="Rectangle 1">
            <a:extLst>
              <a:ext uri="{FF2B5EF4-FFF2-40B4-BE49-F238E27FC236}">
                <a16:creationId xmlns:a16="http://schemas.microsoft.com/office/drawing/2014/main" id="{BEBC561B-B406-447C-829E-B8B82EB1EF88}"/>
              </a:ext>
            </a:extLst>
          </p:cNvPr>
          <p:cNvSpPr>
            <a:spLocks noGrp="1"/>
          </p:cNvSpPr>
          <p:nvPr/>
        </p:nvSpPr>
        <p:spPr>
          <a:xfrm>
            <a:off x="762000" y="1466850"/>
            <a:ext cx="10668000" cy="1562100"/>
          </a:xfrm>
          <a:prstGeom prst="rect">
            <a:avLst/>
          </a:prstGeom>
          <a:noFill/>
          <a:ln w="0">
            <a:noFill/>
            <a:prstDash val="solid"/>
          </a:ln>
        </p:spPr>
        <p:txBody>
          <a:bodyPr lIns="0" tIns="0" rIns="0" bIns="0" anchor="t"/>
          <a:lstStyle>
            <a:defPPr algn="l">
              <a:defRPr sz="4200" b="1">
                <a:solidFill>
                  <a:srgbClr val="FFFFFF"/>
                </a:solidFill>
                <a:latin typeface="Arial"/>
                <a:ea typeface="Arial"/>
                <a:cs typeface="Arial"/>
              </a:defRPr>
            </a:defPPr>
          </a:lstStyle>
          <a:p>
            <a:pPr algn="l">
              <a:defRPr sz="4200" b="1">
                <a:solidFill>
                  <a:srgbClr val="FFFFFF"/>
                </a:solidFill>
                <a:latin typeface="Arial"/>
                <a:ea typeface="Arial"/>
                <a:cs typeface="Arial"/>
              </a:defRPr>
            </a:pPr>
            <a:r>
              <a:rPr sz="4200" b="1">
                <a:solidFill>
                  <a:srgbClr val="FFFFFF"/>
                </a:solidFill>
                <a:latin typeface="Arial"/>
                <a:ea typeface="Arial"/>
                <a:cs typeface="Arial"/>
              </a:rPr>
              <a:t>Tác động của chính sách giá</a:t>
            </a:r>
          </a:p>
          <a:p>
            <a:pPr algn="l">
              <a:defRPr sz="4200" b="1">
                <a:solidFill>
                  <a:srgbClr val="FFFFFF"/>
                </a:solidFill>
                <a:latin typeface="Arial"/>
                <a:ea typeface="Arial"/>
                <a:cs typeface="Arial"/>
              </a:defRPr>
            </a:pPr>
            <a:r>
              <a:rPr sz="4200" b="1">
                <a:solidFill>
                  <a:srgbClr val="FFFFFF"/>
                </a:solidFill>
                <a:latin typeface="Arial"/>
                <a:ea typeface="Arial"/>
                <a:cs typeface="Arial"/>
              </a:rPr>
              <a:t>trong thị trường gọi xe</a:t>
            </a:r>
          </a:p>
        </p:txBody>
      </p:sp>
      <p:sp>
        <p:nvSpPr>
          <p:cNvPr id="3" name="Rectangle 2">
            <a:extLst>
              <a:ext uri="{FF2B5EF4-FFF2-40B4-BE49-F238E27FC236}">
                <a16:creationId xmlns:a16="http://schemas.microsoft.com/office/drawing/2014/main" id="{9CE443B0-62D8-40EE-B0B0-57F2F66004A4}"/>
              </a:ext>
            </a:extLst>
          </p:cNvPr>
          <p:cNvSpPr>
            <a:spLocks noGrp="1"/>
          </p:cNvSpPr>
          <p:nvPr/>
        </p:nvSpPr>
        <p:spPr>
          <a:xfrm>
            <a:off x="762000" y="3371850"/>
            <a:ext cx="10287000" cy="723900"/>
          </a:xfrm>
          <a:prstGeom prst="rect">
            <a:avLst/>
          </a:prstGeom>
          <a:noFill/>
          <a:ln w="0">
            <a:noFill/>
            <a:prstDash val="solid"/>
          </a:ln>
        </p:spPr>
        <p:txBody>
          <a:bodyPr lIns="0" tIns="0" rIns="0" bIns="0" anchor="t"/>
          <a:lstStyle>
            <a:defPPr algn="l">
              <a:defRPr sz="2175" b="0">
                <a:solidFill>
                  <a:srgbClr val="D6E8DF"/>
                </a:solidFill>
                <a:latin typeface="Arial"/>
                <a:ea typeface="Arial"/>
                <a:cs typeface="Arial"/>
              </a:defRPr>
            </a:defPPr>
          </a:lstStyle>
          <a:p>
            <a:pPr algn="l">
              <a:defRPr sz="2175" b="0">
                <a:solidFill>
                  <a:srgbClr val="D6E8DF"/>
                </a:solidFill>
                <a:latin typeface="Arial"/>
                <a:ea typeface="Arial"/>
                <a:cs typeface="Arial"/>
              </a:defRPr>
            </a:pPr>
            <a:r>
              <a:rPr lang="en-US" sz="2175" b="0" dirty="0">
                <a:solidFill>
                  <a:srgbClr val="D6E8DF"/>
                </a:solidFill>
                <a:latin typeface="Arial"/>
                <a:ea typeface="Arial"/>
                <a:cs typeface="Arial"/>
              </a:rPr>
              <a:t>Proof </a:t>
            </a:r>
            <a:r>
              <a:rPr lang="en-US" sz="2175" b="0">
                <a:solidFill>
                  <a:srgbClr val="D6E8DF"/>
                </a:solidFill>
                <a:latin typeface="Arial"/>
                <a:ea typeface="Arial"/>
                <a:cs typeface="Arial"/>
              </a:rPr>
              <a:t>of Concept</a:t>
            </a:r>
            <a:r>
              <a:rPr sz="2175" b="0">
                <a:solidFill>
                  <a:srgbClr val="D6E8DF"/>
                </a:solidFill>
                <a:latin typeface="Arial"/>
                <a:ea typeface="Arial"/>
                <a:cs typeface="Arial"/>
              </a:rPr>
              <a:t> </a:t>
            </a:r>
            <a:r>
              <a:rPr sz="2175" b="0" dirty="0">
                <a:solidFill>
                  <a:srgbClr val="D6E8DF"/>
                </a:solidFill>
                <a:latin typeface="Arial"/>
                <a:ea typeface="Arial"/>
                <a:cs typeface="Arial"/>
              </a:rPr>
              <a:t>· </a:t>
            </a:r>
            <a:r>
              <a:rPr sz="2175" b="0" dirty="0" err="1">
                <a:solidFill>
                  <a:srgbClr val="D6E8DF"/>
                </a:solidFill>
                <a:latin typeface="Arial"/>
                <a:ea typeface="Arial"/>
                <a:cs typeface="Arial"/>
              </a:rPr>
              <a:t>Bối</a:t>
            </a:r>
            <a:r>
              <a:rPr sz="2175" b="0" dirty="0">
                <a:solidFill>
                  <a:srgbClr val="D6E8DF"/>
                </a:solidFill>
                <a:latin typeface="Arial"/>
                <a:ea typeface="Arial"/>
                <a:cs typeface="Arial"/>
              </a:rPr>
              <a:t> </a:t>
            </a:r>
            <a:r>
              <a:rPr sz="2175" b="0" dirty="0" err="1">
                <a:solidFill>
                  <a:srgbClr val="D6E8DF"/>
                </a:solidFill>
                <a:latin typeface="Arial"/>
                <a:ea typeface="Arial"/>
                <a:cs typeface="Arial"/>
              </a:rPr>
              <a:t>cảnh</a:t>
            </a:r>
            <a:r>
              <a:rPr sz="2175" b="0" dirty="0">
                <a:solidFill>
                  <a:srgbClr val="D6E8DF"/>
                </a:solidFill>
                <a:latin typeface="Arial"/>
                <a:ea typeface="Arial"/>
                <a:cs typeface="Arial"/>
              </a:rPr>
              <a:t>, </a:t>
            </a:r>
            <a:r>
              <a:rPr sz="2175" b="0" dirty="0" err="1">
                <a:solidFill>
                  <a:srgbClr val="D6E8DF"/>
                </a:solidFill>
                <a:latin typeface="Arial"/>
                <a:ea typeface="Arial"/>
                <a:cs typeface="Arial"/>
              </a:rPr>
              <a:t>cách</a:t>
            </a:r>
            <a:r>
              <a:rPr sz="2175" b="0" dirty="0">
                <a:solidFill>
                  <a:srgbClr val="D6E8DF"/>
                </a:solidFill>
                <a:latin typeface="Arial"/>
                <a:ea typeface="Arial"/>
                <a:cs typeface="Arial"/>
              </a:rPr>
              <a:t> </a:t>
            </a:r>
            <a:r>
              <a:rPr sz="2175" b="0" dirty="0" err="1">
                <a:solidFill>
                  <a:srgbClr val="D6E8DF"/>
                </a:solidFill>
                <a:latin typeface="Arial"/>
                <a:ea typeface="Arial"/>
                <a:cs typeface="Arial"/>
              </a:rPr>
              <a:t>tiếp</a:t>
            </a:r>
            <a:r>
              <a:rPr sz="2175" b="0" dirty="0">
                <a:solidFill>
                  <a:srgbClr val="D6E8DF"/>
                </a:solidFill>
                <a:latin typeface="Arial"/>
                <a:ea typeface="Arial"/>
                <a:cs typeface="Arial"/>
              </a:rPr>
              <a:t> </a:t>
            </a:r>
            <a:r>
              <a:rPr sz="2175" b="0" dirty="0" err="1">
                <a:solidFill>
                  <a:srgbClr val="D6E8DF"/>
                </a:solidFill>
                <a:latin typeface="Arial"/>
                <a:ea typeface="Arial"/>
                <a:cs typeface="Arial"/>
              </a:rPr>
              <a:t>cận</a:t>
            </a:r>
            <a:r>
              <a:rPr sz="2175" b="0" dirty="0">
                <a:solidFill>
                  <a:srgbClr val="D6E8DF"/>
                </a:solidFill>
                <a:latin typeface="Arial"/>
                <a:ea typeface="Arial"/>
                <a:cs typeface="Arial"/>
              </a:rPr>
              <a:t> </a:t>
            </a:r>
            <a:r>
              <a:rPr sz="2175" b="0" dirty="0" err="1">
                <a:solidFill>
                  <a:srgbClr val="D6E8DF"/>
                </a:solidFill>
                <a:latin typeface="Arial"/>
                <a:ea typeface="Arial"/>
                <a:cs typeface="Arial"/>
              </a:rPr>
              <a:t>và</a:t>
            </a:r>
            <a:r>
              <a:rPr sz="2175" b="0" dirty="0">
                <a:solidFill>
                  <a:srgbClr val="D6E8DF"/>
                </a:solidFill>
                <a:latin typeface="Arial"/>
                <a:ea typeface="Arial"/>
                <a:cs typeface="Arial"/>
              </a:rPr>
              <a:t> </a:t>
            </a:r>
            <a:r>
              <a:rPr sz="2175" b="0" dirty="0" err="1">
                <a:solidFill>
                  <a:srgbClr val="D6E8DF"/>
                </a:solidFill>
                <a:latin typeface="Arial"/>
                <a:ea typeface="Arial"/>
                <a:cs typeface="Arial"/>
              </a:rPr>
              <a:t>kết</a:t>
            </a:r>
            <a:r>
              <a:rPr sz="2175" b="0" dirty="0">
                <a:solidFill>
                  <a:srgbClr val="D6E8DF"/>
                </a:solidFill>
                <a:latin typeface="Arial"/>
                <a:ea typeface="Arial"/>
                <a:cs typeface="Arial"/>
              </a:rPr>
              <a:t> </a:t>
            </a:r>
            <a:r>
              <a:rPr sz="2175" b="0" dirty="0" err="1">
                <a:solidFill>
                  <a:srgbClr val="D6E8DF"/>
                </a:solidFill>
                <a:latin typeface="Arial"/>
                <a:ea typeface="Arial"/>
                <a:cs typeface="Arial"/>
              </a:rPr>
              <a:t>quả</a:t>
            </a:r>
            <a:r>
              <a:rPr sz="2175" b="0" dirty="0">
                <a:solidFill>
                  <a:srgbClr val="D6E8DF"/>
                </a:solidFill>
                <a:latin typeface="Arial"/>
                <a:ea typeface="Arial"/>
                <a:cs typeface="Arial"/>
              </a:rPr>
              <a:t> </a:t>
            </a:r>
            <a:r>
              <a:rPr sz="2175" b="0" dirty="0" err="1">
                <a:solidFill>
                  <a:srgbClr val="D6E8DF"/>
                </a:solidFill>
                <a:latin typeface="Arial"/>
                <a:ea typeface="Arial"/>
                <a:cs typeface="Arial"/>
              </a:rPr>
              <a:t>kiểm</a:t>
            </a:r>
            <a:r>
              <a:rPr sz="2175" b="0" dirty="0">
                <a:solidFill>
                  <a:srgbClr val="D6E8DF"/>
                </a:solidFill>
                <a:latin typeface="Arial"/>
                <a:ea typeface="Arial"/>
                <a:cs typeface="Arial"/>
              </a:rPr>
              <a:t> </a:t>
            </a:r>
            <a:r>
              <a:rPr sz="2175" b="0" dirty="0" err="1">
                <a:solidFill>
                  <a:srgbClr val="D6E8DF"/>
                </a:solidFill>
                <a:latin typeface="Arial"/>
                <a:ea typeface="Arial"/>
                <a:cs typeface="Arial"/>
              </a:rPr>
              <a:t>chứng</a:t>
            </a:r>
            <a:endParaRPr sz="2175" b="0" dirty="0">
              <a:solidFill>
                <a:srgbClr val="D6E8DF"/>
              </a:solidFill>
              <a:latin typeface="Arial"/>
              <a:ea typeface="Arial"/>
              <a:cs typeface="Arial"/>
            </a:endParaRPr>
          </a:p>
        </p:txBody>
      </p:sp>
      <p:sp>
        <p:nvSpPr>
          <p:cNvPr id="4" name="Rectangle 3">
            <a:extLst>
              <a:ext uri="{FF2B5EF4-FFF2-40B4-BE49-F238E27FC236}">
                <a16:creationId xmlns:a16="http://schemas.microsoft.com/office/drawing/2014/main" id="{DD360D15-9714-4D0C-9FD7-CBD52E63D7CE}"/>
              </a:ext>
            </a:extLst>
          </p:cNvPr>
          <p:cNvSpPr>
            <a:spLocks noGrp="1"/>
          </p:cNvSpPr>
          <p:nvPr/>
        </p:nvSpPr>
        <p:spPr>
          <a:xfrm>
            <a:off x="762000" y="4410075"/>
            <a:ext cx="10648950" cy="19050"/>
          </a:xfrm>
          <a:prstGeom prst="rect">
            <a:avLst/>
          </a:prstGeom>
          <a:solidFill>
            <a:srgbClr val="4D6E67"/>
          </a:solidFill>
          <a:ln w="0">
            <a:noFill/>
            <a:prstDash val="solid"/>
          </a:ln>
        </p:spPr>
        <p:txBody>
          <a:bodyPr/>
          <a:lstStyle/>
          <a:p>
            <a:endParaRPr lang="en-US"/>
          </a:p>
        </p:txBody>
      </p:sp>
      <p:sp>
        <p:nvSpPr>
          <p:cNvPr id="5" name="Rectangle 4">
            <a:extLst>
              <a:ext uri="{FF2B5EF4-FFF2-40B4-BE49-F238E27FC236}">
                <a16:creationId xmlns:a16="http://schemas.microsoft.com/office/drawing/2014/main" id="{AFC2B969-DD7B-4DF4-846B-75AD677FF0B5}"/>
              </a:ext>
            </a:extLst>
          </p:cNvPr>
          <p:cNvSpPr>
            <a:spLocks noGrp="1"/>
          </p:cNvSpPr>
          <p:nvPr/>
        </p:nvSpPr>
        <p:spPr>
          <a:xfrm>
            <a:off x="762000" y="4752975"/>
            <a:ext cx="10572750" cy="895350"/>
          </a:xfrm>
          <a:prstGeom prst="rect">
            <a:avLst/>
          </a:prstGeom>
          <a:noFill/>
          <a:ln w="0">
            <a:noFill/>
            <a:prstDash val="solid"/>
          </a:ln>
        </p:spPr>
        <p:txBody>
          <a:bodyPr lIns="0" tIns="0" rIns="0" bIns="0" anchor="t"/>
          <a:lstStyle>
            <a:defPPr algn="l">
              <a:defRPr sz="2400" b="0">
                <a:solidFill>
                  <a:srgbClr val="FFFFFF"/>
                </a:solidFill>
                <a:latin typeface="Arial"/>
                <a:ea typeface="Arial"/>
                <a:cs typeface="Arial"/>
              </a:defRPr>
            </a:defPPr>
          </a:lstStyle>
          <a:p>
            <a:pPr algn="l">
              <a:defRPr sz="2400" b="0">
                <a:solidFill>
                  <a:srgbClr val="FFFFFF"/>
                </a:solidFill>
                <a:latin typeface="Arial"/>
                <a:ea typeface="Arial"/>
                <a:cs typeface="Arial"/>
              </a:defRPr>
            </a:pPr>
            <a:r>
              <a:rPr sz="2400" b="0">
                <a:solidFill>
                  <a:srgbClr val="FFFFFF"/>
                </a:solidFill>
                <a:latin typeface="Arial"/>
                <a:ea typeface="Arial"/>
                <a:cs typeface="Arial"/>
              </a:rPr>
              <a:t>Nếu giá dịch vụ X tăng 10%, khách hàng và vận hành thay đổi thế nào?</a:t>
            </a:r>
          </a:p>
        </p:txBody>
      </p:sp>
      <p:sp>
        <p:nvSpPr>
          <p:cNvPr id="6" name="Rectangle 5">
            <a:extLst>
              <a:ext uri="{FF2B5EF4-FFF2-40B4-BE49-F238E27FC236}">
                <a16:creationId xmlns:a16="http://schemas.microsoft.com/office/drawing/2014/main" id="{1910F600-7AE7-44B3-B644-2C6FC46D39CF}"/>
              </a:ext>
            </a:extLst>
          </p:cNvPr>
          <p:cNvSpPr>
            <a:spLocks noGrp="1"/>
          </p:cNvSpPr>
          <p:nvPr/>
        </p:nvSpPr>
        <p:spPr>
          <a:xfrm>
            <a:off x="762000" y="5943600"/>
            <a:ext cx="10477500" cy="571500"/>
          </a:xfrm>
          <a:prstGeom prst="rect">
            <a:avLst/>
          </a:prstGeom>
          <a:noFill/>
          <a:ln w="0">
            <a:noFill/>
            <a:prstDash val="solid"/>
          </a:ln>
        </p:spPr>
        <p:txBody>
          <a:bodyPr lIns="0" tIns="0" rIns="0" bIns="0" anchor="t"/>
          <a:lstStyle>
            <a:defPPr algn="l">
              <a:defRPr sz="1425" b="0">
                <a:solidFill>
                  <a:srgbClr val="D6E8DF"/>
                </a:solidFill>
                <a:latin typeface="Arial"/>
                <a:ea typeface="Arial"/>
                <a:cs typeface="Arial"/>
              </a:defRPr>
            </a:defPPr>
          </a:lstStyle>
          <a:p>
            <a:pPr algn="l">
              <a:defRPr sz="1425" b="0">
                <a:solidFill>
                  <a:srgbClr val="D6E8DF"/>
                </a:solidFill>
                <a:latin typeface="Arial"/>
                <a:ea typeface="Arial"/>
                <a:cs typeface="Arial"/>
              </a:defRPr>
            </a:pPr>
            <a:r>
              <a:rPr sz="1425" b="0">
                <a:solidFill>
                  <a:srgbClr val="D6E8DF"/>
                </a:solidFill>
                <a:latin typeface="Arial"/>
                <a:ea typeface="Arial"/>
                <a:cs typeface="Arial"/>
              </a:rPr>
              <a:t>Nguyễn Thành An · 12/10/2026</a:t>
            </a:r>
          </a:p>
          <a:p>
            <a:pPr algn="l">
              <a:defRPr sz="1425" b="0">
                <a:solidFill>
                  <a:srgbClr val="D6E8DF"/>
                </a:solidFill>
                <a:latin typeface="Arial"/>
                <a:ea typeface="Arial"/>
                <a:cs typeface="Arial"/>
              </a:defRPr>
            </a:pPr>
            <a:r>
              <a:rPr sz="1425" b="0">
                <a:solidFill>
                  <a:srgbClr val="D6E8DF"/>
                </a:solidFill>
                <a:latin typeface="Arial"/>
                <a:ea typeface="Arial"/>
                <a:cs typeface="Arial"/>
              </a:rPr>
              <a:t>Ví dụ X/Y là hai dịch vụ giả định; kết quả hiện tại chưa hiệu chỉnh bằng dữ liệu GSM.</a:t>
            </a:r>
          </a:p>
        </p:txBody>
      </p:sp>
    </p:spTree>
    <p:extLst>
      <p:ext uri="{BB962C8B-B14F-4D97-AF65-F5344CB8AC3E}">
        <p14:creationId xmlns:p14="http://schemas.microsoft.com/office/powerpoint/2010/main" val="265718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F841909-D68A-4684-B253-F83A0D806E77}"/>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a:solidFill>
                  <a:srgbClr val="183B37"/>
                </a:solidFill>
                <a:latin typeface="Arial"/>
                <a:ea typeface="Arial"/>
                <a:cs typeface="Arial"/>
              </a:rPr>
              <a:t>Ba đáp ứng cần hiểu để đánh giá chính sách</a:t>
            </a:r>
          </a:p>
        </p:txBody>
      </p:sp>
      <p:sp>
        <p:nvSpPr>
          <p:cNvPr id="2" name="Rectangle 1">
            <a:extLst>
              <a:ext uri="{FF2B5EF4-FFF2-40B4-BE49-F238E27FC236}">
                <a16:creationId xmlns:a16="http://schemas.microsoft.com/office/drawing/2014/main" id="{7333ADAA-1D4F-4F11-85B7-3292031C8222}"/>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Mỗi đáp ứng trả lời một câu hỏi nghiệp vụ khác nhau</a:t>
            </a:r>
          </a:p>
        </p:txBody>
      </p:sp>
      <p:sp>
        <p:nvSpPr>
          <p:cNvPr id="3" name="Rectangle 2">
            <a:extLst>
              <a:ext uri="{FF2B5EF4-FFF2-40B4-BE49-F238E27FC236}">
                <a16:creationId xmlns:a16="http://schemas.microsoft.com/office/drawing/2014/main" id="{A2BCF993-E31D-45F5-9B2F-0056C53CA0E9}"/>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E10E1454-7B46-4949-A154-E6F934518067}"/>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02</a:t>
            </a:r>
          </a:p>
        </p:txBody>
      </p:sp>
      <p:sp>
        <p:nvSpPr>
          <p:cNvPr id="5" name="Rectangle 4">
            <a:extLst>
              <a:ext uri="{FF2B5EF4-FFF2-40B4-BE49-F238E27FC236}">
                <a16:creationId xmlns:a16="http://schemas.microsoft.com/office/drawing/2014/main" id="{0C1B610C-457C-4DD7-988F-29996721D19A}"/>
              </a:ext>
            </a:extLst>
          </p:cNvPr>
          <p:cNvSpPr>
            <a:spLocks noGrp="1"/>
          </p:cNvSpPr>
          <p:nvPr/>
        </p:nvSpPr>
        <p:spPr>
          <a:xfrm>
            <a:off x="685800" y="2133600"/>
            <a:ext cx="619125" cy="552450"/>
          </a:xfrm>
          <a:prstGeom prst="rect">
            <a:avLst/>
          </a:prstGeom>
          <a:noFill/>
          <a:ln w="0">
            <a:noFill/>
            <a:prstDash val="solid"/>
          </a:ln>
        </p:spPr>
        <p:txBody>
          <a:bodyPr lIns="0" tIns="0" rIns="0" bIns="0" anchor="t"/>
          <a:lstStyle>
            <a:defPPr algn="l">
              <a:defRPr sz="2850" b="1">
                <a:solidFill>
                  <a:srgbClr val="087F78"/>
                </a:solidFill>
                <a:latin typeface="Arial"/>
                <a:ea typeface="Arial"/>
                <a:cs typeface="Arial"/>
              </a:defRPr>
            </a:defPPr>
          </a:lstStyle>
          <a:p>
            <a:pPr algn="l">
              <a:defRPr sz="2850" b="1">
                <a:solidFill>
                  <a:srgbClr val="087F78"/>
                </a:solidFill>
                <a:latin typeface="Arial"/>
                <a:ea typeface="Arial"/>
                <a:cs typeface="Arial"/>
              </a:defRPr>
            </a:pPr>
            <a:r>
              <a:rPr sz="2850" b="1">
                <a:solidFill>
                  <a:srgbClr val="087F78"/>
                </a:solidFill>
                <a:latin typeface="Arial"/>
                <a:ea typeface="Arial"/>
                <a:cs typeface="Arial"/>
              </a:rPr>
              <a:t>01</a:t>
            </a:r>
          </a:p>
        </p:txBody>
      </p:sp>
      <p:sp>
        <p:nvSpPr>
          <p:cNvPr id="6" name="Rectangle 5">
            <a:extLst>
              <a:ext uri="{FF2B5EF4-FFF2-40B4-BE49-F238E27FC236}">
                <a16:creationId xmlns:a16="http://schemas.microsoft.com/office/drawing/2014/main" id="{9CC70E0A-5B13-4F47-A981-7A11AEE62F22}"/>
              </a:ext>
            </a:extLst>
          </p:cNvPr>
          <p:cNvSpPr>
            <a:spLocks noGrp="1"/>
          </p:cNvSpPr>
          <p:nvPr/>
        </p:nvSpPr>
        <p:spPr>
          <a:xfrm>
            <a:off x="1571625" y="2133600"/>
            <a:ext cx="4191000" cy="476250"/>
          </a:xfrm>
          <a:prstGeom prst="rect">
            <a:avLst/>
          </a:prstGeom>
          <a:noFill/>
          <a:ln w="0">
            <a:noFill/>
            <a:prstDash val="solid"/>
          </a:ln>
        </p:spPr>
        <p:txBody>
          <a:bodyPr lIns="0" tIns="0" rIns="0" bIns="0" anchor="t"/>
          <a:lstStyle>
            <a:defPPr algn="l">
              <a:defRPr sz="2175" b="1">
                <a:solidFill>
                  <a:srgbClr val="183B37"/>
                </a:solidFill>
                <a:latin typeface="Arial"/>
                <a:ea typeface="Arial"/>
                <a:cs typeface="Arial"/>
              </a:defRPr>
            </a:defPPr>
          </a:lstStyle>
          <a:p>
            <a:pPr algn="l">
              <a:defRPr sz="2175" b="1">
                <a:solidFill>
                  <a:srgbClr val="183B37"/>
                </a:solidFill>
                <a:latin typeface="Arial"/>
                <a:ea typeface="Arial"/>
                <a:cs typeface="Arial"/>
              </a:defRPr>
            </a:pPr>
            <a:r>
              <a:rPr sz="2175" b="1">
                <a:solidFill>
                  <a:srgbClr val="183B37"/>
                </a:solidFill>
                <a:latin typeface="Arial"/>
                <a:ea typeface="Arial"/>
                <a:cs typeface="Arial"/>
              </a:rPr>
              <a:t>Độ nhạy giá khách hàng</a:t>
            </a:r>
          </a:p>
        </p:txBody>
      </p:sp>
      <p:sp>
        <p:nvSpPr>
          <p:cNvPr id="7" name="Rectangle 6">
            <a:extLst>
              <a:ext uri="{FF2B5EF4-FFF2-40B4-BE49-F238E27FC236}">
                <a16:creationId xmlns:a16="http://schemas.microsoft.com/office/drawing/2014/main" id="{F372A0C1-87C4-4A5B-A0C1-7CD698772978}"/>
              </a:ext>
            </a:extLst>
          </p:cNvPr>
          <p:cNvSpPr>
            <a:spLocks noGrp="1"/>
          </p:cNvSpPr>
          <p:nvPr/>
        </p:nvSpPr>
        <p:spPr>
          <a:xfrm>
            <a:off x="6238875" y="2133600"/>
            <a:ext cx="5095875" cy="904875"/>
          </a:xfrm>
          <a:prstGeom prst="rect">
            <a:avLst/>
          </a:prstGeom>
          <a:noFill/>
          <a:ln w="0">
            <a:noFill/>
            <a:prstDash val="solid"/>
          </a:ln>
        </p:spPr>
        <p:txBody>
          <a:bodyPr lIns="0" tIns="0" rIns="0" bIns="0" anchor="t"/>
          <a:lstStyle>
            <a:defPPr algn="l">
              <a:defRPr sz="2025" b="0">
                <a:solidFill>
                  <a:srgbClr val="183B37"/>
                </a:solidFill>
                <a:latin typeface="Arial"/>
                <a:ea typeface="Arial"/>
                <a:cs typeface="Arial"/>
              </a:defRPr>
            </a:defPPr>
          </a:lstStyle>
          <a:p>
            <a:pPr algn="l">
              <a:defRPr sz="2025" b="0">
                <a:solidFill>
                  <a:srgbClr val="183B37"/>
                </a:solidFill>
                <a:latin typeface="Arial"/>
                <a:ea typeface="Arial"/>
                <a:cs typeface="Arial"/>
              </a:defRPr>
            </a:pPr>
            <a:r>
              <a:rPr sz="2025" b="0">
                <a:solidFill>
                  <a:srgbClr val="183B37"/>
                </a:solidFill>
                <a:latin typeface="Arial"/>
                <a:ea typeface="Arial"/>
                <a:cs typeface="Arial"/>
              </a:rPr>
              <a:t>Giá thay đổi thì nhu cầu đặt chuyến thay đổi bao nhiêu?</a:t>
            </a:r>
          </a:p>
        </p:txBody>
      </p:sp>
      <p:sp>
        <p:nvSpPr>
          <p:cNvPr id="8" name="Rectangle 7">
            <a:extLst>
              <a:ext uri="{FF2B5EF4-FFF2-40B4-BE49-F238E27FC236}">
                <a16:creationId xmlns:a16="http://schemas.microsoft.com/office/drawing/2014/main" id="{7F647B64-1888-4D2C-B7C3-AF134E09E33B}"/>
              </a:ext>
            </a:extLst>
          </p:cNvPr>
          <p:cNvSpPr>
            <a:spLocks noGrp="1"/>
          </p:cNvSpPr>
          <p:nvPr/>
        </p:nvSpPr>
        <p:spPr>
          <a:xfrm>
            <a:off x="685800" y="3162300"/>
            <a:ext cx="10820400" cy="9525"/>
          </a:xfrm>
          <a:prstGeom prst="rect">
            <a:avLst/>
          </a:prstGeom>
          <a:solidFill>
            <a:srgbClr val="CDD8D2"/>
          </a:solidFill>
          <a:ln w="0">
            <a:noFill/>
            <a:prstDash val="solid"/>
          </a:ln>
        </p:spPr>
        <p:txBody>
          <a:bodyPr/>
          <a:lstStyle/>
          <a:p>
            <a:endParaRPr lang="en-US"/>
          </a:p>
        </p:txBody>
      </p:sp>
      <p:sp>
        <p:nvSpPr>
          <p:cNvPr id="9" name="Rectangle 8">
            <a:extLst>
              <a:ext uri="{FF2B5EF4-FFF2-40B4-BE49-F238E27FC236}">
                <a16:creationId xmlns:a16="http://schemas.microsoft.com/office/drawing/2014/main" id="{4DAE8DA2-30FF-40D4-AFDA-39496C5630BC}"/>
              </a:ext>
            </a:extLst>
          </p:cNvPr>
          <p:cNvSpPr>
            <a:spLocks noGrp="1"/>
          </p:cNvSpPr>
          <p:nvPr/>
        </p:nvSpPr>
        <p:spPr>
          <a:xfrm>
            <a:off x="685800" y="3333750"/>
            <a:ext cx="619125" cy="552450"/>
          </a:xfrm>
          <a:prstGeom prst="rect">
            <a:avLst/>
          </a:prstGeom>
          <a:noFill/>
          <a:ln w="0">
            <a:noFill/>
            <a:prstDash val="solid"/>
          </a:ln>
        </p:spPr>
        <p:txBody>
          <a:bodyPr lIns="0" tIns="0" rIns="0" bIns="0" anchor="t"/>
          <a:lstStyle>
            <a:defPPr algn="l">
              <a:defRPr sz="2850" b="1">
                <a:solidFill>
                  <a:srgbClr val="087F78"/>
                </a:solidFill>
                <a:latin typeface="Arial"/>
                <a:ea typeface="Arial"/>
                <a:cs typeface="Arial"/>
              </a:defRPr>
            </a:defPPr>
          </a:lstStyle>
          <a:p>
            <a:pPr algn="l">
              <a:defRPr sz="2850" b="1">
                <a:solidFill>
                  <a:srgbClr val="087F78"/>
                </a:solidFill>
                <a:latin typeface="Arial"/>
                <a:ea typeface="Arial"/>
                <a:cs typeface="Arial"/>
              </a:defRPr>
            </a:pPr>
            <a:r>
              <a:rPr sz="2850" b="1">
                <a:solidFill>
                  <a:srgbClr val="087F78"/>
                </a:solidFill>
                <a:latin typeface="Arial"/>
                <a:ea typeface="Arial"/>
                <a:cs typeface="Arial"/>
              </a:rPr>
              <a:t>02</a:t>
            </a:r>
          </a:p>
        </p:txBody>
      </p:sp>
      <p:sp>
        <p:nvSpPr>
          <p:cNvPr id="10" name="Rectangle 9">
            <a:extLst>
              <a:ext uri="{FF2B5EF4-FFF2-40B4-BE49-F238E27FC236}">
                <a16:creationId xmlns:a16="http://schemas.microsoft.com/office/drawing/2014/main" id="{9FE56597-143E-49EB-9980-DA58A71B9EBE}"/>
              </a:ext>
            </a:extLst>
          </p:cNvPr>
          <p:cNvSpPr>
            <a:spLocks noGrp="1"/>
          </p:cNvSpPr>
          <p:nvPr/>
        </p:nvSpPr>
        <p:spPr>
          <a:xfrm>
            <a:off x="1571625" y="3333750"/>
            <a:ext cx="4191000" cy="476250"/>
          </a:xfrm>
          <a:prstGeom prst="rect">
            <a:avLst/>
          </a:prstGeom>
          <a:noFill/>
          <a:ln w="0">
            <a:noFill/>
            <a:prstDash val="solid"/>
          </a:ln>
        </p:spPr>
        <p:txBody>
          <a:bodyPr lIns="0" tIns="0" rIns="0" bIns="0" anchor="t"/>
          <a:lstStyle>
            <a:defPPr algn="l">
              <a:defRPr sz="2175" b="1">
                <a:solidFill>
                  <a:srgbClr val="183B37"/>
                </a:solidFill>
                <a:latin typeface="Arial"/>
                <a:ea typeface="Arial"/>
                <a:cs typeface="Arial"/>
              </a:defRPr>
            </a:defPPr>
          </a:lstStyle>
          <a:p>
            <a:pPr algn="l">
              <a:defRPr sz="2175" b="1">
                <a:solidFill>
                  <a:srgbClr val="183B37"/>
                </a:solidFill>
                <a:latin typeface="Arial"/>
                <a:ea typeface="Arial"/>
                <a:cs typeface="Arial"/>
              </a:defRPr>
            </a:pPr>
            <a:r>
              <a:rPr sz="2175" b="1">
                <a:solidFill>
                  <a:srgbClr val="183B37"/>
                </a:solidFill>
                <a:latin typeface="Arial"/>
                <a:ea typeface="Arial"/>
                <a:cs typeface="Arial"/>
              </a:rPr>
              <a:t>Thay thế giữa dịch vụ</a:t>
            </a:r>
          </a:p>
        </p:txBody>
      </p:sp>
      <p:sp>
        <p:nvSpPr>
          <p:cNvPr id="11" name="Rectangle 10">
            <a:extLst>
              <a:ext uri="{FF2B5EF4-FFF2-40B4-BE49-F238E27FC236}">
                <a16:creationId xmlns:a16="http://schemas.microsoft.com/office/drawing/2014/main" id="{861EFF3B-BB67-41D8-8FC8-F42A3E068F5A}"/>
              </a:ext>
            </a:extLst>
          </p:cNvPr>
          <p:cNvSpPr>
            <a:spLocks noGrp="1"/>
          </p:cNvSpPr>
          <p:nvPr/>
        </p:nvSpPr>
        <p:spPr>
          <a:xfrm>
            <a:off x="6238875" y="3333750"/>
            <a:ext cx="5095875" cy="904875"/>
          </a:xfrm>
          <a:prstGeom prst="rect">
            <a:avLst/>
          </a:prstGeom>
          <a:noFill/>
          <a:ln w="0">
            <a:noFill/>
            <a:prstDash val="solid"/>
          </a:ln>
        </p:spPr>
        <p:txBody>
          <a:bodyPr lIns="0" tIns="0" rIns="0" bIns="0" anchor="t"/>
          <a:lstStyle>
            <a:defPPr algn="l">
              <a:defRPr sz="2025" b="0">
                <a:solidFill>
                  <a:srgbClr val="183B37"/>
                </a:solidFill>
                <a:latin typeface="Arial"/>
                <a:ea typeface="Arial"/>
                <a:cs typeface="Arial"/>
              </a:defRPr>
            </a:defPPr>
          </a:lstStyle>
          <a:p>
            <a:pPr algn="l">
              <a:defRPr sz="2025" b="0">
                <a:solidFill>
                  <a:srgbClr val="183B37"/>
                </a:solidFill>
                <a:latin typeface="Arial"/>
                <a:ea typeface="Arial"/>
                <a:cs typeface="Arial"/>
              </a:defRPr>
            </a:pPr>
            <a:r>
              <a:rPr sz="2025" b="0">
                <a:solidFill>
                  <a:srgbClr val="183B37"/>
                </a:solidFill>
                <a:latin typeface="Arial"/>
                <a:ea typeface="Arial"/>
                <a:cs typeface="Arial"/>
              </a:rPr>
              <a:t>Nhu cầu X, Y và lựa chọn không đặt thay đổi thế nào?</a:t>
            </a:r>
          </a:p>
        </p:txBody>
      </p:sp>
      <p:sp>
        <p:nvSpPr>
          <p:cNvPr id="12" name="Rectangle 11">
            <a:extLst>
              <a:ext uri="{FF2B5EF4-FFF2-40B4-BE49-F238E27FC236}">
                <a16:creationId xmlns:a16="http://schemas.microsoft.com/office/drawing/2014/main" id="{0082ACE3-EAD6-4F10-9BAF-71E83C3547CC}"/>
              </a:ext>
            </a:extLst>
          </p:cNvPr>
          <p:cNvSpPr>
            <a:spLocks noGrp="1"/>
          </p:cNvSpPr>
          <p:nvPr/>
        </p:nvSpPr>
        <p:spPr>
          <a:xfrm>
            <a:off x="685800" y="4362450"/>
            <a:ext cx="10820400" cy="9525"/>
          </a:xfrm>
          <a:prstGeom prst="rect">
            <a:avLst/>
          </a:prstGeom>
          <a:solidFill>
            <a:srgbClr val="CDD8D2"/>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DB5C6D03-EA4F-44FC-88E6-76B389ABBCB5}"/>
              </a:ext>
            </a:extLst>
          </p:cNvPr>
          <p:cNvSpPr>
            <a:spLocks noGrp="1"/>
          </p:cNvSpPr>
          <p:nvPr/>
        </p:nvSpPr>
        <p:spPr>
          <a:xfrm>
            <a:off x="685800" y="4533900"/>
            <a:ext cx="619125" cy="552450"/>
          </a:xfrm>
          <a:prstGeom prst="rect">
            <a:avLst/>
          </a:prstGeom>
          <a:noFill/>
          <a:ln w="0">
            <a:noFill/>
            <a:prstDash val="solid"/>
          </a:ln>
        </p:spPr>
        <p:txBody>
          <a:bodyPr lIns="0" tIns="0" rIns="0" bIns="0" anchor="t"/>
          <a:lstStyle>
            <a:defPPr algn="l">
              <a:defRPr sz="2850" b="1">
                <a:solidFill>
                  <a:srgbClr val="087F78"/>
                </a:solidFill>
                <a:latin typeface="Arial"/>
                <a:ea typeface="Arial"/>
                <a:cs typeface="Arial"/>
              </a:defRPr>
            </a:defPPr>
          </a:lstStyle>
          <a:p>
            <a:pPr algn="l">
              <a:defRPr sz="2850" b="1">
                <a:solidFill>
                  <a:srgbClr val="087F78"/>
                </a:solidFill>
                <a:latin typeface="Arial"/>
                <a:ea typeface="Arial"/>
                <a:cs typeface="Arial"/>
              </a:defRPr>
            </a:pPr>
            <a:r>
              <a:rPr sz="2850" b="1">
                <a:solidFill>
                  <a:srgbClr val="087F78"/>
                </a:solidFill>
                <a:latin typeface="Arial"/>
                <a:ea typeface="Arial"/>
                <a:cs typeface="Arial"/>
              </a:rPr>
              <a:t>03</a:t>
            </a:r>
          </a:p>
        </p:txBody>
      </p:sp>
      <p:sp>
        <p:nvSpPr>
          <p:cNvPr id="14" name="Rectangle 13">
            <a:extLst>
              <a:ext uri="{FF2B5EF4-FFF2-40B4-BE49-F238E27FC236}">
                <a16:creationId xmlns:a16="http://schemas.microsoft.com/office/drawing/2014/main" id="{B6EA2142-6115-4883-B3B1-09EEEBE2DDB5}"/>
              </a:ext>
            </a:extLst>
          </p:cNvPr>
          <p:cNvSpPr>
            <a:spLocks noGrp="1"/>
          </p:cNvSpPr>
          <p:nvPr/>
        </p:nvSpPr>
        <p:spPr>
          <a:xfrm>
            <a:off x="1571625" y="4533900"/>
            <a:ext cx="4191000" cy="476250"/>
          </a:xfrm>
          <a:prstGeom prst="rect">
            <a:avLst/>
          </a:prstGeom>
          <a:noFill/>
          <a:ln w="0">
            <a:noFill/>
            <a:prstDash val="solid"/>
          </a:ln>
        </p:spPr>
        <p:txBody>
          <a:bodyPr lIns="0" tIns="0" rIns="0" bIns="0" anchor="t"/>
          <a:lstStyle>
            <a:defPPr algn="l">
              <a:defRPr sz="2175" b="1">
                <a:solidFill>
                  <a:srgbClr val="183B37"/>
                </a:solidFill>
                <a:latin typeface="Arial"/>
                <a:ea typeface="Arial"/>
                <a:cs typeface="Arial"/>
              </a:defRPr>
            </a:defPPr>
          </a:lstStyle>
          <a:p>
            <a:pPr algn="l">
              <a:defRPr sz="2175" b="1">
                <a:solidFill>
                  <a:srgbClr val="183B37"/>
                </a:solidFill>
                <a:latin typeface="Arial"/>
                <a:ea typeface="Arial"/>
                <a:cs typeface="Arial"/>
              </a:defRPr>
            </a:pPr>
            <a:r>
              <a:rPr sz="2175" b="1">
                <a:solidFill>
                  <a:srgbClr val="183B37"/>
                </a:solidFill>
                <a:latin typeface="Arial"/>
                <a:ea typeface="Arial"/>
                <a:cs typeface="Arial"/>
              </a:rPr>
              <a:t>Cung lao động tài xế</a:t>
            </a:r>
          </a:p>
        </p:txBody>
      </p:sp>
      <p:sp>
        <p:nvSpPr>
          <p:cNvPr id="15" name="Rectangle 14">
            <a:extLst>
              <a:ext uri="{FF2B5EF4-FFF2-40B4-BE49-F238E27FC236}">
                <a16:creationId xmlns:a16="http://schemas.microsoft.com/office/drawing/2014/main" id="{7F198A8B-9D44-4FE5-BB3D-C65DD0BF0758}"/>
              </a:ext>
            </a:extLst>
          </p:cNvPr>
          <p:cNvSpPr>
            <a:spLocks noGrp="1"/>
          </p:cNvSpPr>
          <p:nvPr/>
        </p:nvSpPr>
        <p:spPr>
          <a:xfrm>
            <a:off x="6238875" y="4533900"/>
            <a:ext cx="5095875" cy="904875"/>
          </a:xfrm>
          <a:prstGeom prst="rect">
            <a:avLst/>
          </a:prstGeom>
          <a:noFill/>
          <a:ln w="0">
            <a:noFill/>
            <a:prstDash val="solid"/>
          </a:ln>
        </p:spPr>
        <p:txBody>
          <a:bodyPr lIns="0" tIns="0" rIns="0" bIns="0" anchor="t"/>
          <a:lstStyle>
            <a:defPPr algn="l">
              <a:defRPr sz="2025" b="0">
                <a:solidFill>
                  <a:srgbClr val="183B37"/>
                </a:solidFill>
                <a:latin typeface="Arial"/>
                <a:ea typeface="Arial"/>
                <a:cs typeface="Arial"/>
              </a:defRPr>
            </a:defPPr>
          </a:lstStyle>
          <a:p>
            <a:pPr algn="l">
              <a:defRPr sz="2025" b="0">
                <a:solidFill>
                  <a:srgbClr val="183B37"/>
                </a:solidFill>
                <a:latin typeface="Arial"/>
                <a:ea typeface="Arial"/>
                <a:cs typeface="Arial"/>
              </a:defRPr>
            </a:pPr>
            <a:r>
              <a:rPr sz="2025" b="0">
                <a:solidFill>
                  <a:srgbClr val="183B37"/>
                </a:solidFill>
                <a:latin typeface="Arial"/>
                <a:ea typeface="Arial"/>
                <a:cs typeface="Arial"/>
              </a:rPr>
              <a:t>Điều kiện trả công thay đổi thì tham gia và giờ làm thay đổi ra sao?</a:t>
            </a:r>
          </a:p>
        </p:txBody>
      </p:sp>
      <p:sp>
        <p:nvSpPr>
          <p:cNvPr id="16" name="Rectangle 15">
            <a:extLst>
              <a:ext uri="{FF2B5EF4-FFF2-40B4-BE49-F238E27FC236}">
                <a16:creationId xmlns:a16="http://schemas.microsoft.com/office/drawing/2014/main" id="{675E05C6-2E1E-45DD-8959-94FFBCCF26DE}"/>
              </a:ext>
            </a:extLst>
          </p:cNvPr>
          <p:cNvSpPr>
            <a:spLocks noGrp="1"/>
          </p:cNvSpPr>
          <p:nvPr/>
        </p:nvSpPr>
        <p:spPr>
          <a:xfrm>
            <a:off x="685800" y="5953125"/>
            <a:ext cx="10668000" cy="400050"/>
          </a:xfrm>
          <a:prstGeom prst="rect">
            <a:avLst/>
          </a:prstGeom>
          <a:noFill/>
          <a:ln w="0">
            <a:noFill/>
            <a:prstDash val="solid"/>
          </a:ln>
        </p:spPr>
        <p:txBody>
          <a:bodyPr lIns="0" tIns="0" rIns="0" bIns="0" anchor="t"/>
          <a:lstStyle>
            <a:defPPr algn="l">
              <a:defRPr sz="1725" b="1">
                <a:solidFill>
                  <a:srgbClr val="087F78"/>
                </a:solidFill>
                <a:latin typeface="Arial"/>
                <a:ea typeface="Arial"/>
                <a:cs typeface="Arial"/>
              </a:defRPr>
            </a:defPPr>
          </a:lstStyle>
          <a:p>
            <a:pPr algn="l">
              <a:defRPr sz="1725" b="1">
                <a:solidFill>
                  <a:srgbClr val="087F78"/>
                </a:solidFill>
                <a:latin typeface="Arial"/>
                <a:ea typeface="Arial"/>
                <a:cs typeface="Arial"/>
              </a:defRPr>
            </a:pPr>
            <a:r>
              <a:rPr sz="1725" b="1">
                <a:solidFill>
                  <a:srgbClr val="087F78"/>
                </a:solidFill>
                <a:latin typeface="Arial"/>
                <a:ea typeface="Arial"/>
                <a:cs typeface="Arial"/>
              </a:rPr>
              <a:t>PoC hiện tại: cung online cố định; nhận/từ chối từng đơn được mô phỏng riêng.</a:t>
            </a:r>
          </a:p>
        </p:txBody>
      </p:sp>
    </p:spTree>
    <p:extLst>
      <p:ext uri="{BB962C8B-B14F-4D97-AF65-F5344CB8AC3E}">
        <p14:creationId xmlns:p14="http://schemas.microsoft.com/office/powerpoint/2010/main" val="77816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CE16522-1611-4846-8B67-01A54EFE65AB}"/>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a:solidFill>
                  <a:srgbClr val="183B37"/>
                </a:solidFill>
                <a:latin typeface="Arial"/>
                <a:ea typeface="Arial"/>
                <a:cs typeface="Arial"/>
              </a:rPr>
              <a:t>Giá và nhu cầu: tương quan chưa là nhân quả</a:t>
            </a:r>
          </a:p>
        </p:txBody>
      </p:sp>
      <p:sp>
        <p:nvSpPr>
          <p:cNvPr id="2" name="Rectangle 1">
            <a:extLst>
              <a:ext uri="{FF2B5EF4-FFF2-40B4-BE49-F238E27FC236}">
                <a16:creationId xmlns:a16="http://schemas.microsoft.com/office/drawing/2014/main" id="{0C18EAE5-3B47-4A43-9A3C-FB495F90DF78}"/>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Ví dụ minh họa: giờ cao điểm tác động đồng thời lên giá và nhu cầu</a:t>
            </a:r>
          </a:p>
        </p:txBody>
      </p:sp>
      <p:sp>
        <p:nvSpPr>
          <p:cNvPr id="3" name="Rectangle 2">
            <a:extLst>
              <a:ext uri="{FF2B5EF4-FFF2-40B4-BE49-F238E27FC236}">
                <a16:creationId xmlns:a16="http://schemas.microsoft.com/office/drawing/2014/main" id="{4A856563-B571-42AF-B54D-C54D1C931A1A}"/>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3D3B87E0-CD12-42AE-8B8F-6AD575E05442}"/>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03</a:t>
            </a:r>
          </a:p>
        </p:txBody>
      </p:sp>
      <p:sp>
        <p:nvSpPr>
          <p:cNvPr id="5" name="Rectangle 4">
            <a:extLst>
              <a:ext uri="{FF2B5EF4-FFF2-40B4-BE49-F238E27FC236}">
                <a16:creationId xmlns:a16="http://schemas.microsoft.com/office/drawing/2014/main" id="{11138948-BEB3-4B48-8A04-3D54298224A0}"/>
              </a:ext>
            </a:extLst>
          </p:cNvPr>
          <p:cNvSpPr>
            <a:spLocks noGrp="1"/>
          </p:cNvSpPr>
          <p:nvPr/>
        </p:nvSpPr>
        <p:spPr>
          <a:xfrm>
            <a:off x="3924300" y="2152650"/>
            <a:ext cx="4343400" cy="876300"/>
          </a:xfrm>
          <a:prstGeom prst="rect">
            <a:avLst/>
          </a:prstGeom>
          <a:solidFill>
            <a:srgbClr val="D6E8DF"/>
          </a:solidFill>
          <a:ln w="0">
            <a:noFill/>
            <a:prstDash val="solid"/>
          </a:ln>
        </p:spPr>
        <p:txBody>
          <a:bodyPr/>
          <a:lstStyle/>
          <a:p>
            <a:endParaRPr lang="en-US"/>
          </a:p>
        </p:txBody>
      </p:sp>
      <p:sp>
        <p:nvSpPr>
          <p:cNvPr id="6" name="Rectangle 5">
            <a:extLst>
              <a:ext uri="{FF2B5EF4-FFF2-40B4-BE49-F238E27FC236}">
                <a16:creationId xmlns:a16="http://schemas.microsoft.com/office/drawing/2014/main" id="{1FB19714-EC26-4DAE-B30A-D5F4C7D4812B}"/>
              </a:ext>
            </a:extLst>
          </p:cNvPr>
          <p:cNvSpPr>
            <a:spLocks noGrp="1"/>
          </p:cNvSpPr>
          <p:nvPr/>
        </p:nvSpPr>
        <p:spPr>
          <a:xfrm>
            <a:off x="4095750" y="2381250"/>
            <a:ext cx="4000500" cy="514350"/>
          </a:xfrm>
          <a:prstGeom prst="rect">
            <a:avLst/>
          </a:prstGeom>
          <a:noFill/>
          <a:ln w="0">
            <a:noFill/>
            <a:prstDash val="solid"/>
          </a:ln>
        </p:spPr>
        <p:txBody>
          <a:bodyPr lIns="0" tIns="0" rIns="0" bIns="0" anchor="t"/>
          <a:lstStyle>
            <a:defPPr algn="ctr">
              <a:defRPr sz="2100" b="1">
                <a:solidFill>
                  <a:srgbClr val="183B37"/>
                </a:solidFill>
                <a:latin typeface="Arial"/>
                <a:ea typeface="Arial"/>
                <a:cs typeface="Arial"/>
              </a:defRPr>
            </a:defPPr>
          </a:lstStyle>
          <a:p>
            <a:pPr algn="ctr">
              <a:defRPr sz="2100" b="1">
                <a:solidFill>
                  <a:srgbClr val="183B37"/>
                </a:solidFill>
                <a:latin typeface="Arial"/>
                <a:ea typeface="Arial"/>
                <a:cs typeface="Arial"/>
              </a:defRPr>
            </a:pPr>
            <a:r>
              <a:rPr sz="2100" b="1">
                <a:solidFill>
                  <a:srgbClr val="183B37"/>
                </a:solidFill>
                <a:latin typeface="Arial"/>
                <a:ea typeface="Arial"/>
                <a:cs typeface="Arial"/>
              </a:rPr>
              <a:t>Giờ cao điểm / mưa / sự kiện</a:t>
            </a:r>
          </a:p>
        </p:txBody>
      </p:sp>
      <p:sp>
        <p:nvSpPr>
          <p:cNvPr id="7" name="Rectangle 6">
            <a:extLst>
              <a:ext uri="{FF2B5EF4-FFF2-40B4-BE49-F238E27FC236}">
                <a16:creationId xmlns:a16="http://schemas.microsoft.com/office/drawing/2014/main" id="{00509FC0-88C5-4A72-A995-AB7F7AD600EE}"/>
              </a:ext>
            </a:extLst>
          </p:cNvPr>
          <p:cNvSpPr>
            <a:spLocks noGrp="1"/>
          </p:cNvSpPr>
          <p:nvPr/>
        </p:nvSpPr>
        <p:spPr>
          <a:xfrm>
            <a:off x="6086475" y="3028950"/>
            <a:ext cx="19050" cy="238125"/>
          </a:xfrm>
          <a:prstGeom prst="rect">
            <a:avLst/>
          </a:prstGeom>
          <a:solidFill>
            <a:srgbClr val="087F78"/>
          </a:solidFill>
          <a:ln w="0">
            <a:noFill/>
            <a:prstDash val="solid"/>
          </a:ln>
        </p:spPr>
        <p:txBody>
          <a:bodyPr/>
          <a:lstStyle/>
          <a:p>
            <a:endParaRPr lang="en-US"/>
          </a:p>
        </p:txBody>
      </p:sp>
      <p:sp>
        <p:nvSpPr>
          <p:cNvPr id="8" name="Rectangle 7">
            <a:extLst>
              <a:ext uri="{FF2B5EF4-FFF2-40B4-BE49-F238E27FC236}">
                <a16:creationId xmlns:a16="http://schemas.microsoft.com/office/drawing/2014/main" id="{15F15765-6896-49BA-AA63-7A1110B06E8F}"/>
              </a:ext>
            </a:extLst>
          </p:cNvPr>
          <p:cNvSpPr>
            <a:spLocks noGrp="1"/>
          </p:cNvSpPr>
          <p:nvPr/>
        </p:nvSpPr>
        <p:spPr>
          <a:xfrm>
            <a:off x="3152775" y="3257550"/>
            <a:ext cx="5838825" cy="19050"/>
          </a:xfrm>
          <a:prstGeom prst="rect">
            <a:avLst/>
          </a:prstGeom>
          <a:solidFill>
            <a:srgbClr val="087F78"/>
          </a:solidFill>
          <a:ln w="0">
            <a:noFill/>
            <a:prstDash val="solid"/>
          </a:ln>
        </p:spPr>
        <p:txBody>
          <a:bodyPr/>
          <a:lstStyle/>
          <a:p>
            <a:endParaRPr lang="en-US"/>
          </a:p>
        </p:txBody>
      </p:sp>
      <p:sp>
        <p:nvSpPr>
          <p:cNvPr id="9" name="Arrow: Down 8">
            <a:extLst>
              <a:ext uri="{FF2B5EF4-FFF2-40B4-BE49-F238E27FC236}">
                <a16:creationId xmlns:a16="http://schemas.microsoft.com/office/drawing/2014/main" id="{450A0692-0772-49FA-99F8-F6A5C95FF346}"/>
              </a:ext>
            </a:extLst>
          </p:cNvPr>
          <p:cNvSpPr>
            <a:spLocks noGrp="1"/>
          </p:cNvSpPr>
          <p:nvPr/>
        </p:nvSpPr>
        <p:spPr>
          <a:xfrm>
            <a:off x="3000375" y="3276600"/>
            <a:ext cx="304800" cy="704850"/>
          </a:xfrm>
          <a:prstGeom prst="downArrow">
            <a:avLst/>
          </a:prstGeom>
          <a:solidFill>
            <a:srgbClr val="087F78"/>
          </a:solidFill>
          <a:ln w="0">
            <a:noFill/>
            <a:prstDash val="solid"/>
          </a:ln>
        </p:spPr>
        <p:txBody>
          <a:bodyPr/>
          <a:lstStyle/>
          <a:p>
            <a:endParaRPr lang="en-US"/>
          </a:p>
        </p:txBody>
      </p:sp>
      <p:sp>
        <p:nvSpPr>
          <p:cNvPr id="10" name="Arrow: Down 9">
            <a:extLst>
              <a:ext uri="{FF2B5EF4-FFF2-40B4-BE49-F238E27FC236}">
                <a16:creationId xmlns:a16="http://schemas.microsoft.com/office/drawing/2014/main" id="{B66E1DB5-8343-4436-A634-A764939B4E60}"/>
              </a:ext>
            </a:extLst>
          </p:cNvPr>
          <p:cNvSpPr>
            <a:spLocks noGrp="1"/>
          </p:cNvSpPr>
          <p:nvPr/>
        </p:nvSpPr>
        <p:spPr>
          <a:xfrm>
            <a:off x="8839200" y="3276600"/>
            <a:ext cx="304800" cy="704850"/>
          </a:xfrm>
          <a:prstGeom prst="downArrow">
            <a:avLst/>
          </a:prstGeom>
          <a:solidFill>
            <a:srgbClr val="087F78"/>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62C4B5D6-0344-4FE3-8007-E9AE7F90F30D}"/>
              </a:ext>
            </a:extLst>
          </p:cNvPr>
          <p:cNvSpPr>
            <a:spLocks noGrp="1"/>
          </p:cNvSpPr>
          <p:nvPr/>
        </p:nvSpPr>
        <p:spPr>
          <a:xfrm>
            <a:off x="1285875" y="3981450"/>
            <a:ext cx="3705225" cy="1000125"/>
          </a:xfrm>
          <a:prstGeom prst="rect">
            <a:avLst/>
          </a:prstGeom>
          <a:solidFill>
            <a:srgbClr val="FFFFFF"/>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C8E5027B-9566-4E66-A6E9-FA8609C57B05}"/>
              </a:ext>
            </a:extLst>
          </p:cNvPr>
          <p:cNvSpPr>
            <a:spLocks noGrp="1"/>
          </p:cNvSpPr>
          <p:nvPr/>
        </p:nvSpPr>
        <p:spPr>
          <a:xfrm>
            <a:off x="7210425" y="3981450"/>
            <a:ext cx="3705225" cy="1000125"/>
          </a:xfrm>
          <a:prstGeom prst="rect">
            <a:avLst/>
          </a:prstGeom>
          <a:solidFill>
            <a:srgbClr val="FFFFFF"/>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9B98A7AA-C6FC-422E-BF87-FE036C716505}"/>
              </a:ext>
            </a:extLst>
          </p:cNvPr>
          <p:cNvSpPr>
            <a:spLocks noGrp="1"/>
          </p:cNvSpPr>
          <p:nvPr/>
        </p:nvSpPr>
        <p:spPr>
          <a:xfrm>
            <a:off x="1514475" y="4257675"/>
            <a:ext cx="3238500" cy="457200"/>
          </a:xfrm>
          <a:prstGeom prst="rect">
            <a:avLst/>
          </a:prstGeom>
          <a:noFill/>
          <a:ln w="0">
            <a:noFill/>
            <a:prstDash val="solid"/>
          </a:ln>
        </p:spPr>
        <p:txBody>
          <a:bodyPr lIns="0" tIns="0" rIns="0" bIns="0" anchor="t"/>
          <a:lstStyle>
            <a:defPPr algn="ctr">
              <a:defRPr sz="2475" b="1">
                <a:solidFill>
                  <a:srgbClr val="183B37"/>
                </a:solidFill>
                <a:latin typeface="Arial"/>
                <a:ea typeface="Arial"/>
                <a:cs typeface="Arial"/>
              </a:defRPr>
            </a:defPPr>
          </a:lstStyle>
          <a:p>
            <a:pPr algn="ctr">
              <a:defRPr sz="2475" b="1">
                <a:solidFill>
                  <a:srgbClr val="183B37"/>
                </a:solidFill>
                <a:latin typeface="Arial"/>
                <a:ea typeface="Arial"/>
                <a:cs typeface="Arial"/>
              </a:defRPr>
            </a:pPr>
            <a:r>
              <a:rPr sz="2475" b="1">
                <a:solidFill>
                  <a:srgbClr val="183B37"/>
                </a:solidFill>
                <a:latin typeface="Arial"/>
                <a:ea typeface="Arial"/>
                <a:cs typeface="Arial"/>
              </a:rPr>
              <a:t>Giá hiển thị</a:t>
            </a:r>
          </a:p>
        </p:txBody>
      </p:sp>
      <p:sp>
        <p:nvSpPr>
          <p:cNvPr id="14" name="Rectangle 13">
            <a:extLst>
              <a:ext uri="{FF2B5EF4-FFF2-40B4-BE49-F238E27FC236}">
                <a16:creationId xmlns:a16="http://schemas.microsoft.com/office/drawing/2014/main" id="{6E3B179D-A39A-408D-8238-AC0CF1AC0DCB}"/>
              </a:ext>
            </a:extLst>
          </p:cNvPr>
          <p:cNvSpPr>
            <a:spLocks noGrp="1"/>
          </p:cNvSpPr>
          <p:nvPr/>
        </p:nvSpPr>
        <p:spPr>
          <a:xfrm>
            <a:off x="7439025" y="4257675"/>
            <a:ext cx="3238500" cy="457200"/>
          </a:xfrm>
          <a:prstGeom prst="rect">
            <a:avLst/>
          </a:prstGeom>
          <a:noFill/>
          <a:ln w="0">
            <a:noFill/>
            <a:prstDash val="solid"/>
          </a:ln>
        </p:spPr>
        <p:txBody>
          <a:bodyPr lIns="0" tIns="0" rIns="0" bIns="0" anchor="t"/>
          <a:lstStyle>
            <a:defPPr algn="ctr">
              <a:defRPr sz="2475" b="1">
                <a:solidFill>
                  <a:srgbClr val="183B37"/>
                </a:solidFill>
                <a:latin typeface="Arial"/>
                <a:ea typeface="Arial"/>
                <a:cs typeface="Arial"/>
              </a:defRPr>
            </a:defPPr>
          </a:lstStyle>
          <a:p>
            <a:pPr algn="ctr">
              <a:defRPr sz="2475" b="1">
                <a:solidFill>
                  <a:srgbClr val="183B37"/>
                </a:solidFill>
                <a:latin typeface="Arial"/>
                <a:ea typeface="Arial"/>
                <a:cs typeface="Arial"/>
              </a:defRPr>
            </a:pPr>
            <a:r>
              <a:rPr sz="2475" b="1">
                <a:solidFill>
                  <a:srgbClr val="183B37"/>
                </a:solidFill>
                <a:latin typeface="Arial"/>
                <a:ea typeface="Arial"/>
                <a:cs typeface="Arial"/>
              </a:rPr>
              <a:t>Nhu cầu đặt chuyến</a:t>
            </a:r>
          </a:p>
        </p:txBody>
      </p:sp>
      <p:sp>
        <p:nvSpPr>
          <p:cNvPr id="15" name="Arrow: Right 14">
            <a:extLst>
              <a:ext uri="{FF2B5EF4-FFF2-40B4-BE49-F238E27FC236}">
                <a16:creationId xmlns:a16="http://schemas.microsoft.com/office/drawing/2014/main" id="{27860F07-2607-4720-95C1-DDC47FED4D84}"/>
              </a:ext>
            </a:extLst>
          </p:cNvPr>
          <p:cNvSpPr>
            <a:spLocks noGrp="1"/>
          </p:cNvSpPr>
          <p:nvPr/>
        </p:nvSpPr>
        <p:spPr>
          <a:xfrm>
            <a:off x="5343525" y="4257675"/>
            <a:ext cx="1495425" cy="323850"/>
          </a:xfrm>
          <a:prstGeom prst="rightArrow">
            <a:avLst/>
          </a:prstGeom>
          <a:solidFill>
            <a:srgbClr val="087F78"/>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08D1B8E5-0163-49D7-8B0D-D3B027489C5C}"/>
              </a:ext>
            </a:extLst>
          </p:cNvPr>
          <p:cNvSpPr>
            <a:spLocks noGrp="1"/>
          </p:cNvSpPr>
          <p:nvPr/>
        </p:nvSpPr>
        <p:spPr>
          <a:xfrm>
            <a:off x="4686300" y="5105400"/>
            <a:ext cx="2762250" cy="647700"/>
          </a:xfrm>
          <a:prstGeom prst="rect">
            <a:avLst/>
          </a:prstGeom>
          <a:noFill/>
          <a:ln w="0">
            <a:noFill/>
            <a:prstDash val="solid"/>
          </a:ln>
        </p:spPr>
        <p:txBody>
          <a:bodyPr lIns="0" tIns="0" rIns="0" bIns="0" anchor="t"/>
          <a:lstStyle>
            <a:defPPr algn="ctr">
              <a:defRPr sz="1725" b="1">
                <a:solidFill>
                  <a:srgbClr val="087F78"/>
                </a:solidFill>
                <a:latin typeface="Arial"/>
                <a:ea typeface="Arial"/>
                <a:cs typeface="Arial"/>
              </a:defRPr>
            </a:defPPr>
          </a:lstStyle>
          <a:p>
            <a:pPr algn="ctr">
              <a:defRPr sz="1725" b="1">
                <a:solidFill>
                  <a:srgbClr val="087F78"/>
                </a:solidFill>
                <a:latin typeface="Arial"/>
                <a:ea typeface="Arial"/>
                <a:cs typeface="Arial"/>
              </a:defRPr>
            </a:pPr>
            <a:r>
              <a:rPr sz="1725" b="1">
                <a:solidFill>
                  <a:srgbClr val="087F78"/>
                </a:solidFill>
                <a:latin typeface="Arial"/>
                <a:ea typeface="Arial"/>
                <a:cs typeface="Arial"/>
              </a:rPr>
              <a:t>Tác động cần ước lượng</a:t>
            </a:r>
          </a:p>
        </p:txBody>
      </p:sp>
      <p:sp>
        <p:nvSpPr>
          <p:cNvPr id="17" name="Rectangle 16">
            <a:extLst>
              <a:ext uri="{FF2B5EF4-FFF2-40B4-BE49-F238E27FC236}">
                <a16:creationId xmlns:a16="http://schemas.microsoft.com/office/drawing/2014/main" id="{2A35E9AC-1C11-475C-A84D-D9B0639409E4}"/>
              </a:ext>
            </a:extLst>
          </p:cNvPr>
          <p:cNvSpPr>
            <a:spLocks noGrp="1"/>
          </p:cNvSpPr>
          <p:nvPr/>
        </p:nvSpPr>
        <p:spPr>
          <a:xfrm>
            <a:off x="685800" y="5943600"/>
            <a:ext cx="10820400" cy="419100"/>
          </a:xfrm>
          <a:prstGeom prst="rect">
            <a:avLst/>
          </a:prstGeom>
          <a:noFill/>
          <a:ln w="0">
            <a:noFill/>
            <a:prstDash val="solid"/>
          </a:ln>
        </p:spPr>
        <p:txBody>
          <a:bodyPr lIns="0" tIns="0" rIns="0" bIns="0" anchor="t"/>
          <a:lstStyle>
            <a:defPPr algn="l">
              <a:defRPr sz="2025" b="1">
                <a:solidFill>
                  <a:srgbClr val="183B37"/>
                </a:solidFill>
                <a:latin typeface="Arial"/>
                <a:ea typeface="Arial"/>
                <a:cs typeface="Arial"/>
              </a:defRPr>
            </a:defPPr>
          </a:lstStyle>
          <a:p>
            <a:pPr algn="l">
              <a:defRPr sz="2025" b="1">
                <a:solidFill>
                  <a:srgbClr val="183B37"/>
                </a:solidFill>
                <a:latin typeface="Arial"/>
                <a:ea typeface="Arial"/>
                <a:cs typeface="Arial"/>
              </a:defRPr>
            </a:pPr>
            <a:r>
              <a:rPr sz="2025" b="1">
                <a:solidFill>
                  <a:srgbClr val="183B37"/>
                </a:solidFill>
                <a:latin typeface="Arial"/>
                <a:ea typeface="Arial"/>
                <a:cs typeface="Arial"/>
              </a:rPr>
              <a:t>Cần đối chiếu hai chính sách trong các điều kiện có thể so sánh.</a:t>
            </a:r>
          </a:p>
        </p:txBody>
      </p:sp>
    </p:spTree>
    <p:extLst>
      <p:ext uri="{BB962C8B-B14F-4D97-AF65-F5344CB8AC3E}">
        <p14:creationId xmlns:p14="http://schemas.microsoft.com/office/powerpoint/2010/main" val="1113750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378B372-BC91-4294-9D7A-F504091727A4}"/>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a:solidFill>
                  <a:srgbClr val="183B37"/>
                </a:solidFill>
                <a:latin typeface="Arial"/>
                <a:ea typeface="Arial"/>
                <a:cs typeface="Arial"/>
              </a:rPr>
              <a:t>Dữ liệu hiện có và phần cần GSM xác nhận</a:t>
            </a:r>
          </a:p>
        </p:txBody>
      </p:sp>
      <p:sp>
        <p:nvSpPr>
          <p:cNvPr id="2" name="Rectangle 1">
            <a:extLst>
              <a:ext uri="{FF2B5EF4-FFF2-40B4-BE49-F238E27FC236}">
                <a16:creationId xmlns:a16="http://schemas.microsoft.com/office/drawing/2014/main" id="{19088F7C-3126-4E31-8622-67073D1418F3}"/>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Nguồn dữ liệu quyết định phạm vi mà kết quả có thể áp dụng</a:t>
            </a:r>
          </a:p>
        </p:txBody>
      </p:sp>
      <p:sp>
        <p:nvSpPr>
          <p:cNvPr id="3" name="Rectangle 2">
            <a:extLst>
              <a:ext uri="{FF2B5EF4-FFF2-40B4-BE49-F238E27FC236}">
                <a16:creationId xmlns:a16="http://schemas.microsoft.com/office/drawing/2014/main" id="{4128B112-ABC6-425F-8EF8-DBEA1E99784C}"/>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A31CBF9F-1EEB-43CF-8CC2-4011686C5374}"/>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04</a:t>
            </a:r>
          </a:p>
        </p:txBody>
      </p:sp>
      <p:graphicFrame>
        <p:nvGraphicFramePr>
          <p:cNvPr id="5" name="Table 4">
            <a:extLst>
              <a:ext uri="{FF2B5EF4-FFF2-40B4-BE49-F238E27FC236}">
                <a16:creationId xmlns:a16="http://schemas.microsoft.com/office/drawing/2014/main" id="{94D0B144-6057-41C1-934A-74E23DD613BA}"/>
              </a:ext>
            </a:extLst>
          </p:cNvPr>
          <p:cNvGraphicFramePr/>
          <p:nvPr/>
        </p:nvGraphicFramePr>
        <p:xfrm>
          <a:off x="685800" y="2114550"/>
          <a:ext cx="10820400" cy="3276600"/>
        </p:xfrm>
        <a:graphic>
          <a:graphicData uri="http://schemas.openxmlformats.org/drawingml/2006/table">
            <a:tbl>
              <a:tblPr/>
              <a:tblGrid>
                <a:gridCol w="24193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819150">
                <a:tc>
                  <a:txBody>
                    <a:bodyPr/>
                    <a:lstStyle/>
                    <a:p>
                      <a:r>
                        <a:rPr sz="1800" b="1">
                          <a:solidFill>
                            <a:srgbClr val="FFFFFF"/>
                          </a:solidFill>
                          <a:latin typeface="Arial"/>
                          <a:ea typeface="Arial"/>
                          <a:cs typeface="Arial"/>
                        </a:rPr>
                        <a:t>Nguồn</a:t>
                      </a:r>
                    </a:p>
                  </a:txBody>
                  <a:tcPr>
                    <a:solidFill>
                      <a:srgbClr val="183B37"/>
                    </a:solidFill>
                  </a:tcPr>
                </a:tc>
                <a:tc>
                  <a:txBody>
                    <a:bodyPr/>
                    <a:lstStyle/>
                    <a:p>
                      <a:r>
                        <a:rPr sz="1800" b="1">
                          <a:solidFill>
                            <a:srgbClr val="FFFFFF"/>
                          </a:solidFill>
                          <a:latin typeface="Arial"/>
                          <a:ea typeface="Arial"/>
                          <a:cs typeface="Arial"/>
                        </a:rPr>
                        <a:t>Đang dùng để làm gì?</a:t>
                      </a:r>
                    </a:p>
                  </a:txBody>
                  <a:tcPr>
                    <a:solidFill>
                      <a:srgbClr val="183B37"/>
                    </a:solidFill>
                  </a:tcPr>
                </a:tc>
                <a:tc>
                  <a:txBody>
                    <a:bodyPr/>
                    <a:lstStyle/>
                    <a:p>
                      <a:r>
                        <a:rPr sz="1800" b="1">
                          <a:solidFill>
                            <a:srgbClr val="FFFFFF"/>
                          </a:solidFill>
                          <a:latin typeface="Arial"/>
                          <a:ea typeface="Arial"/>
                          <a:cs typeface="Arial"/>
                        </a:rPr>
                        <a:t>Giới hạn</a:t>
                      </a:r>
                    </a:p>
                  </a:txBody>
                  <a:tcPr>
                    <a:solidFill>
                      <a:srgbClr val="183B37"/>
                    </a:solidFill>
                  </a:tcPr>
                </a:tc>
                <a:extLst>
                  <a:ext uri="{0D108BD9-81ED-4DB2-BD59-A6C34878D82A}">
                    <a16:rowId xmlns:a16="http://schemas.microsoft.com/office/drawing/2014/main" val="10000"/>
                  </a:ext>
                </a:extLst>
              </a:tr>
              <a:tr h="819150">
                <a:tc>
                  <a:txBody>
                    <a:bodyPr/>
                    <a:lstStyle/>
                    <a:p>
                      <a:r>
                        <a:rPr sz="1800" b="0">
                          <a:solidFill>
                            <a:srgbClr val="183B37"/>
                          </a:solidFill>
                          <a:latin typeface="Arial"/>
                          <a:ea typeface="Arial"/>
                          <a:cs typeface="Arial"/>
                        </a:rPr>
                        <a:t>Public NYC TLC</a:t>
                      </a:r>
                    </a:p>
                  </a:txBody>
                  <a:tcPr>
                    <a:solidFill>
                      <a:srgbClr val="FFFFFF"/>
                    </a:solidFill>
                  </a:tcPr>
                </a:tc>
                <a:tc>
                  <a:txBody>
                    <a:bodyPr/>
                    <a:lstStyle/>
                    <a:p>
                      <a:r>
                        <a:rPr sz="1800" b="0">
                          <a:solidFill>
                            <a:srgbClr val="183B37"/>
                          </a:solidFill>
                          <a:latin typeface="Arial"/>
                          <a:ea typeface="Arial"/>
                          <a:cs typeface="Arial"/>
                        </a:rPr>
                        <a:t>Bối cảnh chuyến đã hoàn tất</a:t>
                      </a:r>
                    </a:p>
                  </a:txBody>
                  <a:tcPr>
                    <a:solidFill>
                      <a:srgbClr val="FFFFFF"/>
                    </a:solidFill>
                  </a:tcPr>
                </a:tc>
                <a:tc>
                  <a:txBody>
                    <a:bodyPr/>
                    <a:lstStyle/>
                    <a:p>
                      <a:r>
                        <a:rPr sz="1800" b="0">
                          <a:solidFill>
                            <a:srgbClr val="183B37"/>
                          </a:solidFill>
                          <a:latin typeface="Arial"/>
                          <a:ea typeface="Arial"/>
                          <a:cs typeface="Arial"/>
                        </a:rPr>
                        <a:t>Thiếu phiên không đặt và yêu cầu thất bại</a:t>
                      </a:r>
                    </a:p>
                  </a:txBody>
                  <a:tcPr>
                    <a:solidFill>
                      <a:srgbClr val="FFFFFF"/>
                    </a:solidFill>
                  </a:tcPr>
                </a:tc>
                <a:extLst>
                  <a:ext uri="{0D108BD9-81ED-4DB2-BD59-A6C34878D82A}">
                    <a16:rowId xmlns:a16="http://schemas.microsoft.com/office/drawing/2014/main" val="10001"/>
                  </a:ext>
                </a:extLst>
              </a:tr>
              <a:tr h="819150">
                <a:tc>
                  <a:txBody>
                    <a:bodyPr/>
                    <a:lstStyle/>
                    <a:p>
                      <a:r>
                        <a:rPr sz="1800" b="0">
                          <a:solidFill>
                            <a:srgbClr val="183B37"/>
                          </a:solidFill>
                          <a:latin typeface="Arial"/>
                          <a:ea typeface="Arial"/>
                          <a:cs typeface="Arial"/>
                        </a:rPr>
                        <a:t>Synthetic / controlled</a:t>
                      </a:r>
                    </a:p>
                  </a:txBody>
                  <a:tcPr>
                    <a:solidFill>
                      <a:srgbClr val="EDF2EE"/>
                    </a:solidFill>
                  </a:tcPr>
                </a:tc>
                <a:tc>
                  <a:txBody>
                    <a:bodyPr/>
                    <a:lstStyle/>
                    <a:p>
                      <a:r>
                        <a:rPr sz="1800" b="0">
                          <a:solidFill>
                            <a:srgbClr val="183B37"/>
                          </a:solidFill>
                          <a:latin typeface="Arial"/>
                          <a:ea typeface="Arial"/>
                          <a:cs typeface="Arial"/>
                        </a:rPr>
                        <a:t>Kiểm tra mô hình và vận hành với đáp án biết trước</a:t>
                      </a:r>
                    </a:p>
                  </a:txBody>
                  <a:tcPr>
                    <a:solidFill>
                      <a:srgbClr val="EDF2EE"/>
                    </a:solidFill>
                  </a:tcPr>
                </a:tc>
                <a:tc>
                  <a:txBody>
                    <a:bodyPr/>
                    <a:lstStyle/>
                    <a:p>
                      <a:r>
                        <a:rPr sz="1800" b="0">
                          <a:solidFill>
                            <a:srgbClr val="183B37"/>
                          </a:solidFill>
                          <a:latin typeface="Arial"/>
                          <a:ea typeface="Arial"/>
                          <a:cs typeface="Arial"/>
                        </a:rPr>
                        <a:t>Chưa đại diện cho hành vi GSM</a:t>
                      </a:r>
                    </a:p>
                  </a:txBody>
                  <a:tcPr>
                    <a:solidFill>
                      <a:srgbClr val="EDF2EE"/>
                    </a:solidFill>
                  </a:tcPr>
                </a:tc>
                <a:extLst>
                  <a:ext uri="{0D108BD9-81ED-4DB2-BD59-A6C34878D82A}">
                    <a16:rowId xmlns:a16="http://schemas.microsoft.com/office/drawing/2014/main" val="10002"/>
                  </a:ext>
                </a:extLst>
              </a:tr>
              <a:tr h="819150">
                <a:tc>
                  <a:txBody>
                    <a:bodyPr/>
                    <a:lstStyle/>
                    <a:p>
                      <a:r>
                        <a:rPr sz="1800" b="0">
                          <a:solidFill>
                            <a:srgbClr val="183B37"/>
                          </a:solidFill>
                          <a:latin typeface="Arial"/>
                          <a:ea typeface="Arial"/>
                          <a:cs typeface="Arial"/>
                        </a:rPr>
                        <a:t>Nguồn GSM</a:t>
                      </a:r>
                    </a:p>
                  </a:txBody>
                  <a:tcPr>
                    <a:solidFill>
                      <a:srgbClr val="FFFFFF"/>
                    </a:solidFill>
                  </a:tcPr>
                </a:tc>
                <a:tc>
                  <a:txBody>
                    <a:bodyPr/>
                    <a:lstStyle/>
                    <a:p>
                      <a:r>
                        <a:rPr sz="1800" b="0">
                          <a:solidFill>
                            <a:srgbClr val="183B37"/>
                          </a:solidFill>
                          <a:latin typeface="Arial"/>
                          <a:ea typeface="Arial"/>
                          <a:cs typeface="Arial"/>
                        </a:rPr>
                        <a:t>Hiệu chỉnh và kiểm chứng trên nghiệp vụ thực tế</a:t>
                      </a:r>
                    </a:p>
                  </a:txBody>
                  <a:tcPr>
                    <a:solidFill>
                      <a:srgbClr val="FFFFFF"/>
                    </a:solidFill>
                  </a:tcPr>
                </a:tc>
                <a:tc>
                  <a:txBody>
                    <a:bodyPr/>
                    <a:lstStyle/>
                    <a:p>
                      <a:r>
                        <a:rPr sz="1800" b="0">
                          <a:solidFill>
                            <a:srgbClr val="183B37"/>
                          </a:solidFill>
                          <a:latin typeface="Arial"/>
                          <a:ea typeface="Arial"/>
                          <a:cs typeface="Arial"/>
                        </a:rPr>
                        <a:t>Cần xác nhận nguồn, mapping và phạm vi</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ACA203F2-19DD-493F-BD1D-0A53951E878D}"/>
              </a:ext>
            </a:extLst>
          </p:cNvPr>
          <p:cNvSpPr>
            <a:spLocks noGrp="1"/>
          </p:cNvSpPr>
          <p:nvPr/>
        </p:nvSpPr>
        <p:spPr>
          <a:xfrm>
            <a:off x="685800" y="5734050"/>
            <a:ext cx="10572750" cy="619125"/>
          </a:xfrm>
          <a:prstGeom prst="rect">
            <a:avLst/>
          </a:prstGeom>
          <a:noFill/>
          <a:ln w="0">
            <a:noFill/>
            <a:prstDash val="solid"/>
          </a:ln>
        </p:spPr>
        <p:txBody>
          <a:bodyPr lIns="0" tIns="0" rIns="0" bIns="0" anchor="t"/>
          <a:lstStyle>
            <a:defPPr algn="l">
              <a:defRPr sz="1950" b="1">
                <a:solidFill>
                  <a:srgbClr val="087F78"/>
                </a:solidFill>
                <a:latin typeface="Arial"/>
                <a:ea typeface="Arial"/>
                <a:cs typeface="Arial"/>
              </a:defRPr>
            </a:defPPr>
          </a:lstStyle>
          <a:p>
            <a:pPr algn="l">
              <a:defRPr sz="1950" b="1">
                <a:solidFill>
                  <a:srgbClr val="087F78"/>
                </a:solidFill>
                <a:latin typeface="Arial"/>
                <a:ea typeface="Arial"/>
                <a:cs typeface="Arial"/>
              </a:defRPr>
            </a:pPr>
            <a:r>
              <a:rPr sz="1950" b="1">
                <a:solidFill>
                  <a:srgbClr val="087F78"/>
                </a:solidFill>
                <a:latin typeface="Arial"/>
                <a:ea typeface="Arial"/>
                <a:cs typeface="Arial"/>
              </a:rPr>
              <a:t>Cần giữ cả các lựa chọn không đặt, tài xế không có chuyến và yêu cầu không phục vụ được.</a:t>
            </a:r>
          </a:p>
        </p:txBody>
      </p:sp>
    </p:spTree>
    <p:extLst>
      <p:ext uri="{BB962C8B-B14F-4D97-AF65-F5344CB8AC3E}">
        <p14:creationId xmlns:p14="http://schemas.microsoft.com/office/powerpoint/2010/main" val="267014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6AED090-E37F-47B8-847C-6FE2C7BD99A9}"/>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dirty="0">
                <a:solidFill>
                  <a:srgbClr val="183B37"/>
                </a:solidFill>
                <a:latin typeface="Arial"/>
                <a:ea typeface="Arial"/>
                <a:cs typeface="Arial"/>
              </a:rPr>
              <a:t>Phạm vi PoC </a:t>
            </a:r>
            <a:r>
              <a:rPr sz="3150" b="1" dirty="0" err="1">
                <a:solidFill>
                  <a:srgbClr val="183B37"/>
                </a:solidFill>
                <a:latin typeface="Arial"/>
                <a:ea typeface="Arial"/>
                <a:cs typeface="Arial"/>
              </a:rPr>
              <a:t>đã</a:t>
            </a:r>
            <a:r>
              <a:rPr sz="3150" b="1" dirty="0">
                <a:solidFill>
                  <a:srgbClr val="183B37"/>
                </a:solidFill>
                <a:latin typeface="Arial"/>
                <a:ea typeface="Arial"/>
                <a:cs typeface="Arial"/>
              </a:rPr>
              <a:t> </a:t>
            </a:r>
            <a:r>
              <a:rPr sz="3150" b="1" dirty="0" err="1">
                <a:solidFill>
                  <a:srgbClr val="183B37"/>
                </a:solidFill>
                <a:latin typeface="Arial"/>
                <a:ea typeface="Arial"/>
                <a:cs typeface="Arial"/>
              </a:rPr>
              <a:t>hoàn</a:t>
            </a:r>
            <a:r>
              <a:rPr sz="3150" b="1" dirty="0">
                <a:solidFill>
                  <a:srgbClr val="183B37"/>
                </a:solidFill>
                <a:latin typeface="Arial"/>
                <a:ea typeface="Arial"/>
                <a:cs typeface="Arial"/>
              </a:rPr>
              <a:t> </a:t>
            </a:r>
            <a:r>
              <a:rPr sz="3150" b="1" dirty="0" err="1">
                <a:solidFill>
                  <a:srgbClr val="183B37"/>
                </a:solidFill>
                <a:latin typeface="Arial"/>
                <a:ea typeface="Arial"/>
                <a:cs typeface="Arial"/>
              </a:rPr>
              <a:t>thành</a:t>
            </a:r>
            <a:r>
              <a:rPr sz="3150" b="1" dirty="0">
                <a:solidFill>
                  <a:srgbClr val="183B37"/>
                </a:solidFill>
                <a:latin typeface="Arial"/>
                <a:ea typeface="Arial"/>
                <a:cs typeface="Arial"/>
              </a:rPr>
              <a:t> </a:t>
            </a:r>
            <a:r>
              <a:rPr sz="3150" b="1" dirty="0" err="1">
                <a:solidFill>
                  <a:srgbClr val="183B37"/>
                </a:solidFill>
                <a:latin typeface="Arial"/>
                <a:ea typeface="Arial"/>
                <a:cs typeface="Arial"/>
              </a:rPr>
              <a:t>đến</a:t>
            </a:r>
            <a:r>
              <a:rPr sz="3150" b="1" dirty="0">
                <a:solidFill>
                  <a:srgbClr val="183B37"/>
                </a:solidFill>
                <a:latin typeface="Arial"/>
                <a:ea typeface="Arial"/>
                <a:cs typeface="Arial"/>
              </a:rPr>
              <a:t> </a:t>
            </a:r>
            <a:r>
              <a:rPr lang="en-US" sz="3150" b="1" dirty="0" err="1">
                <a:solidFill>
                  <a:srgbClr val="183B37"/>
                </a:solidFill>
                <a:latin typeface="Arial"/>
                <a:ea typeface="Arial"/>
                <a:cs typeface="Arial"/>
              </a:rPr>
              <a:t>hiện</a:t>
            </a:r>
            <a:r>
              <a:rPr lang="en-US" sz="3150" b="1" dirty="0">
                <a:solidFill>
                  <a:srgbClr val="183B37"/>
                </a:solidFill>
                <a:latin typeface="Arial"/>
                <a:ea typeface="Arial"/>
                <a:cs typeface="Arial"/>
              </a:rPr>
              <a:t> </a:t>
            </a:r>
            <a:r>
              <a:rPr lang="en-US" sz="3150" b="1" dirty="0" err="1">
                <a:solidFill>
                  <a:srgbClr val="183B37"/>
                </a:solidFill>
                <a:latin typeface="Arial"/>
                <a:ea typeface="Arial"/>
                <a:cs typeface="Arial"/>
              </a:rPr>
              <a:t>tại</a:t>
            </a:r>
            <a:endParaRPr sz="3150" b="1" dirty="0">
              <a:solidFill>
                <a:srgbClr val="183B37"/>
              </a:solidFill>
              <a:latin typeface="Arial"/>
              <a:ea typeface="Arial"/>
              <a:cs typeface="Arial"/>
            </a:endParaRPr>
          </a:p>
        </p:txBody>
      </p:sp>
      <p:sp>
        <p:nvSpPr>
          <p:cNvPr id="2" name="Rectangle 1">
            <a:extLst>
              <a:ext uri="{FF2B5EF4-FFF2-40B4-BE49-F238E27FC236}">
                <a16:creationId xmlns:a16="http://schemas.microsoft.com/office/drawing/2014/main" id="{7C9A1682-8C57-466F-9698-4538FAF643A7}"/>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Ba giả định được khai báo trước khi chạy mô phỏng</a:t>
            </a:r>
          </a:p>
        </p:txBody>
      </p:sp>
      <p:sp>
        <p:nvSpPr>
          <p:cNvPr id="3" name="Rectangle 2">
            <a:extLst>
              <a:ext uri="{FF2B5EF4-FFF2-40B4-BE49-F238E27FC236}">
                <a16:creationId xmlns:a16="http://schemas.microsoft.com/office/drawing/2014/main" id="{C20540A3-D950-4EF4-8622-7A2E27B1AD0F}"/>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D08A89F0-392D-433C-A671-54CA211A279F}"/>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05</a:t>
            </a:r>
          </a:p>
        </p:txBody>
      </p:sp>
      <p:sp>
        <p:nvSpPr>
          <p:cNvPr id="5" name="Rectangle 4">
            <a:extLst>
              <a:ext uri="{FF2B5EF4-FFF2-40B4-BE49-F238E27FC236}">
                <a16:creationId xmlns:a16="http://schemas.microsoft.com/office/drawing/2014/main" id="{77FD8C6F-84A0-4250-A343-924ECD67372F}"/>
              </a:ext>
            </a:extLst>
          </p:cNvPr>
          <p:cNvSpPr>
            <a:spLocks noGrp="1"/>
          </p:cNvSpPr>
          <p:nvPr/>
        </p:nvSpPr>
        <p:spPr>
          <a:xfrm>
            <a:off x="685800" y="2181225"/>
            <a:ext cx="523875" cy="609600"/>
          </a:xfrm>
          <a:prstGeom prst="rect">
            <a:avLst/>
          </a:prstGeom>
          <a:noFill/>
          <a:ln w="0">
            <a:noFill/>
            <a:prstDash val="solid"/>
          </a:ln>
        </p:spPr>
        <p:txBody>
          <a:bodyPr lIns="0" tIns="0" rIns="0" bIns="0" anchor="t"/>
          <a:lstStyle>
            <a:defPPr algn="l">
              <a:defRPr sz="3450" b="1">
                <a:solidFill>
                  <a:srgbClr val="087F78"/>
                </a:solidFill>
                <a:latin typeface="Arial"/>
                <a:ea typeface="Arial"/>
                <a:cs typeface="Arial"/>
              </a:defRPr>
            </a:defPPr>
          </a:lstStyle>
          <a:p>
            <a:pPr algn="l">
              <a:defRPr sz="3450" b="1">
                <a:solidFill>
                  <a:srgbClr val="087F78"/>
                </a:solidFill>
                <a:latin typeface="Arial"/>
                <a:ea typeface="Arial"/>
                <a:cs typeface="Arial"/>
              </a:defRPr>
            </a:pPr>
            <a:r>
              <a:rPr sz="3450" b="1">
                <a:solidFill>
                  <a:srgbClr val="087F78"/>
                </a:solidFill>
                <a:latin typeface="Arial"/>
                <a:ea typeface="Arial"/>
                <a:cs typeface="Arial"/>
              </a:rPr>
              <a:t>1</a:t>
            </a:r>
          </a:p>
        </p:txBody>
      </p:sp>
      <p:sp>
        <p:nvSpPr>
          <p:cNvPr id="6" name="Rectangle 5">
            <a:extLst>
              <a:ext uri="{FF2B5EF4-FFF2-40B4-BE49-F238E27FC236}">
                <a16:creationId xmlns:a16="http://schemas.microsoft.com/office/drawing/2014/main" id="{D3752E92-28A3-4548-8F57-925A5AEB6ADB}"/>
              </a:ext>
            </a:extLst>
          </p:cNvPr>
          <p:cNvSpPr>
            <a:spLocks noGrp="1"/>
          </p:cNvSpPr>
          <p:nvPr/>
        </p:nvSpPr>
        <p:spPr>
          <a:xfrm>
            <a:off x="1543050" y="2181225"/>
            <a:ext cx="4124325" cy="666750"/>
          </a:xfrm>
          <a:prstGeom prst="rect">
            <a:avLst/>
          </a:prstGeom>
          <a:noFill/>
          <a:ln w="0">
            <a:noFill/>
            <a:prstDash val="solid"/>
          </a:ln>
        </p:spPr>
        <p:txBody>
          <a:bodyPr lIns="0" tIns="0" rIns="0" bIns="0" anchor="t"/>
          <a:lstStyle>
            <a:defPPr algn="l">
              <a:defRPr sz="2250" b="1">
                <a:solidFill>
                  <a:srgbClr val="183B37"/>
                </a:solidFill>
                <a:latin typeface="Arial"/>
                <a:ea typeface="Arial"/>
                <a:cs typeface="Arial"/>
              </a:defRPr>
            </a:defPPr>
          </a:lstStyle>
          <a:p>
            <a:pPr algn="l">
              <a:defRPr sz="2250" b="1">
                <a:solidFill>
                  <a:srgbClr val="183B37"/>
                </a:solidFill>
                <a:latin typeface="Arial"/>
                <a:ea typeface="Arial"/>
                <a:cs typeface="Arial"/>
              </a:defRPr>
            </a:pPr>
            <a:r>
              <a:rPr sz="2250" b="1">
                <a:solidFill>
                  <a:srgbClr val="183B37"/>
                </a:solidFill>
                <a:latin typeface="Arial"/>
                <a:ea typeface="Arial"/>
                <a:cs typeface="Arial"/>
              </a:rPr>
              <a:t>Danh sách online cố định</a:t>
            </a:r>
          </a:p>
        </p:txBody>
      </p:sp>
      <p:sp>
        <p:nvSpPr>
          <p:cNvPr id="7" name="Rectangle 6">
            <a:extLst>
              <a:ext uri="{FF2B5EF4-FFF2-40B4-BE49-F238E27FC236}">
                <a16:creationId xmlns:a16="http://schemas.microsoft.com/office/drawing/2014/main" id="{2CCBB5D9-36B1-4154-9319-13D7BD9E94C4}"/>
              </a:ext>
            </a:extLst>
          </p:cNvPr>
          <p:cNvSpPr>
            <a:spLocks noGrp="1"/>
          </p:cNvSpPr>
          <p:nvPr/>
        </p:nvSpPr>
        <p:spPr>
          <a:xfrm>
            <a:off x="6076950" y="2181225"/>
            <a:ext cx="5353050" cy="904875"/>
          </a:xfrm>
          <a:prstGeom prst="rect">
            <a:avLst/>
          </a:prstGeom>
          <a:noFill/>
          <a:ln w="0">
            <a:noFill/>
            <a:prstDash val="solid"/>
          </a:ln>
        </p:spPr>
        <p:txBody>
          <a:bodyPr lIns="0" tIns="0" rIns="0" bIns="0" anchor="t"/>
          <a:lstStyle>
            <a:defPPr algn="l">
              <a:defRPr sz="1950" b="0">
                <a:solidFill>
                  <a:srgbClr val="183B37"/>
                </a:solidFill>
                <a:latin typeface="Arial"/>
                <a:ea typeface="Arial"/>
                <a:cs typeface="Arial"/>
              </a:defRPr>
            </a:defPPr>
          </a:lstStyle>
          <a:p>
            <a:pPr algn="l">
              <a:defRPr sz="1950" b="0">
                <a:solidFill>
                  <a:srgbClr val="183B37"/>
                </a:solidFill>
                <a:latin typeface="Arial"/>
                <a:ea typeface="Arial"/>
                <a:cs typeface="Arial"/>
              </a:defRPr>
            </a:pPr>
            <a:r>
              <a:rPr sz="1950" b="0">
                <a:solidFill>
                  <a:srgbClr val="183B37"/>
                </a:solidFill>
                <a:latin typeface="Arial"/>
                <a:ea typeface="Arial"/>
                <a:cs typeface="Arial"/>
              </a:rPr>
              <a:t>Giữ nguyên nhóm tài xế trong khoảng quan sát; dùng chung cho X/Y.</a:t>
            </a:r>
          </a:p>
        </p:txBody>
      </p:sp>
      <p:sp>
        <p:nvSpPr>
          <p:cNvPr id="8" name="Rectangle 7">
            <a:extLst>
              <a:ext uri="{FF2B5EF4-FFF2-40B4-BE49-F238E27FC236}">
                <a16:creationId xmlns:a16="http://schemas.microsoft.com/office/drawing/2014/main" id="{E6C05EFF-9D6C-4D43-8A13-1505864D58D9}"/>
              </a:ext>
            </a:extLst>
          </p:cNvPr>
          <p:cNvSpPr>
            <a:spLocks noGrp="1"/>
          </p:cNvSpPr>
          <p:nvPr/>
        </p:nvSpPr>
        <p:spPr>
          <a:xfrm>
            <a:off x="685800" y="3171825"/>
            <a:ext cx="10820400" cy="9525"/>
          </a:xfrm>
          <a:prstGeom prst="rect">
            <a:avLst/>
          </a:prstGeom>
          <a:solidFill>
            <a:srgbClr val="CDD8D2"/>
          </a:solidFill>
          <a:ln w="0">
            <a:noFill/>
            <a:prstDash val="solid"/>
          </a:ln>
        </p:spPr>
        <p:txBody>
          <a:bodyPr/>
          <a:lstStyle/>
          <a:p>
            <a:endParaRPr lang="en-US"/>
          </a:p>
        </p:txBody>
      </p:sp>
      <p:sp>
        <p:nvSpPr>
          <p:cNvPr id="9" name="Rectangle 8">
            <a:extLst>
              <a:ext uri="{FF2B5EF4-FFF2-40B4-BE49-F238E27FC236}">
                <a16:creationId xmlns:a16="http://schemas.microsoft.com/office/drawing/2014/main" id="{F1C09EE5-B555-4346-B5EE-4B79259546F1}"/>
              </a:ext>
            </a:extLst>
          </p:cNvPr>
          <p:cNvSpPr>
            <a:spLocks noGrp="1"/>
          </p:cNvSpPr>
          <p:nvPr/>
        </p:nvSpPr>
        <p:spPr>
          <a:xfrm>
            <a:off x="685800" y="3343275"/>
            <a:ext cx="523875" cy="609600"/>
          </a:xfrm>
          <a:prstGeom prst="rect">
            <a:avLst/>
          </a:prstGeom>
          <a:noFill/>
          <a:ln w="0">
            <a:noFill/>
            <a:prstDash val="solid"/>
          </a:ln>
        </p:spPr>
        <p:txBody>
          <a:bodyPr lIns="0" tIns="0" rIns="0" bIns="0" anchor="t"/>
          <a:lstStyle>
            <a:defPPr algn="l">
              <a:defRPr sz="3450" b="1">
                <a:solidFill>
                  <a:srgbClr val="087F78"/>
                </a:solidFill>
                <a:latin typeface="Arial"/>
                <a:ea typeface="Arial"/>
                <a:cs typeface="Arial"/>
              </a:defRPr>
            </a:defPPr>
          </a:lstStyle>
          <a:p>
            <a:pPr algn="l">
              <a:defRPr sz="3450" b="1">
                <a:solidFill>
                  <a:srgbClr val="087F78"/>
                </a:solidFill>
                <a:latin typeface="Arial"/>
                <a:ea typeface="Arial"/>
                <a:cs typeface="Arial"/>
              </a:defRPr>
            </a:pPr>
            <a:r>
              <a:rPr sz="3450" b="1">
                <a:solidFill>
                  <a:srgbClr val="087F78"/>
                </a:solidFill>
                <a:latin typeface="Arial"/>
                <a:ea typeface="Arial"/>
                <a:cs typeface="Arial"/>
              </a:rPr>
              <a:t>2</a:t>
            </a:r>
          </a:p>
        </p:txBody>
      </p:sp>
      <p:sp>
        <p:nvSpPr>
          <p:cNvPr id="10" name="Rectangle 9">
            <a:extLst>
              <a:ext uri="{FF2B5EF4-FFF2-40B4-BE49-F238E27FC236}">
                <a16:creationId xmlns:a16="http://schemas.microsoft.com/office/drawing/2014/main" id="{488C28EE-0F7B-4944-944E-8984FCB03FA4}"/>
              </a:ext>
            </a:extLst>
          </p:cNvPr>
          <p:cNvSpPr>
            <a:spLocks noGrp="1"/>
          </p:cNvSpPr>
          <p:nvPr/>
        </p:nvSpPr>
        <p:spPr>
          <a:xfrm>
            <a:off x="1543050" y="3343275"/>
            <a:ext cx="4124325" cy="666750"/>
          </a:xfrm>
          <a:prstGeom prst="rect">
            <a:avLst/>
          </a:prstGeom>
          <a:noFill/>
          <a:ln w="0">
            <a:noFill/>
            <a:prstDash val="solid"/>
          </a:ln>
        </p:spPr>
        <p:txBody>
          <a:bodyPr lIns="0" tIns="0" rIns="0" bIns="0" anchor="t"/>
          <a:lstStyle>
            <a:defPPr algn="l">
              <a:defRPr sz="2250" b="1">
                <a:solidFill>
                  <a:srgbClr val="183B37"/>
                </a:solidFill>
                <a:latin typeface="Arial"/>
                <a:ea typeface="Arial"/>
                <a:cs typeface="Arial"/>
              </a:defRPr>
            </a:defPPr>
          </a:lstStyle>
          <a:p>
            <a:pPr algn="l">
              <a:defRPr sz="2250" b="1">
                <a:solidFill>
                  <a:srgbClr val="183B37"/>
                </a:solidFill>
                <a:latin typeface="Arial"/>
                <a:ea typeface="Arial"/>
                <a:cs typeface="Arial"/>
              </a:defRPr>
            </a:pPr>
            <a:r>
              <a:rPr sz="2250" b="1">
                <a:solidFill>
                  <a:srgbClr val="183B37"/>
                </a:solidFill>
                <a:latin typeface="Arial"/>
                <a:ea typeface="Arial"/>
                <a:cs typeface="Arial"/>
              </a:rPr>
              <a:t>Nhận hoặc từ chối từng đơn</a:t>
            </a:r>
          </a:p>
        </p:txBody>
      </p:sp>
      <p:sp>
        <p:nvSpPr>
          <p:cNvPr id="11" name="Rectangle 10">
            <a:extLst>
              <a:ext uri="{FF2B5EF4-FFF2-40B4-BE49-F238E27FC236}">
                <a16:creationId xmlns:a16="http://schemas.microsoft.com/office/drawing/2014/main" id="{BBCD7EB5-3296-4E53-B188-EBFDFD0F3BCB}"/>
              </a:ext>
            </a:extLst>
          </p:cNvPr>
          <p:cNvSpPr>
            <a:spLocks noGrp="1"/>
          </p:cNvSpPr>
          <p:nvPr/>
        </p:nvSpPr>
        <p:spPr>
          <a:xfrm>
            <a:off x="6076950" y="3343275"/>
            <a:ext cx="5353050" cy="904875"/>
          </a:xfrm>
          <a:prstGeom prst="rect">
            <a:avLst/>
          </a:prstGeom>
          <a:noFill/>
          <a:ln w="0">
            <a:noFill/>
            <a:prstDash val="solid"/>
          </a:ln>
        </p:spPr>
        <p:txBody>
          <a:bodyPr lIns="0" tIns="0" rIns="0" bIns="0" anchor="t"/>
          <a:lstStyle>
            <a:defPPr algn="l">
              <a:defRPr sz="1950" b="0">
                <a:solidFill>
                  <a:srgbClr val="183B37"/>
                </a:solidFill>
                <a:latin typeface="Arial"/>
                <a:ea typeface="Arial"/>
                <a:cs typeface="Arial"/>
              </a:defRPr>
            </a:defPPr>
          </a:lstStyle>
          <a:p>
            <a:pPr algn="l">
              <a:defRPr sz="1950" b="0">
                <a:solidFill>
                  <a:srgbClr val="183B37"/>
                </a:solidFill>
                <a:latin typeface="Arial"/>
                <a:ea typeface="Arial"/>
                <a:cs typeface="Arial"/>
              </a:defRPr>
            </a:pPr>
            <a:r>
              <a:rPr sz="1950" b="0">
                <a:solidFill>
                  <a:srgbClr val="183B37"/>
                </a:solidFill>
                <a:latin typeface="Arial"/>
                <a:ea typeface="Arial"/>
                <a:cs typeface="Arial"/>
              </a:rPr>
              <a:t>Từ chối vẫn online; xe bận hoặc giữ cho một offer không nhận chuyến đồng thời.</a:t>
            </a:r>
          </a:p>
        </p:txBody>
      </p:sp>
      <p:sp>
        <p:nvSpPr>
          <p:cNvPr id="12" name="Rectangle 11">
            <a:extLst>
              <a:ext uri="{FF2B5EF4-FFF2-40B4-BE49-F238E27FC236}">
                <a16:creationId xmlns:a16="http://schemas.microsoft.com/office/drawing/2014/main" id="{774F2B91-8158-4322-99F0-777E9D5CB676}"/>
              </a:ext>
            </a:extLst>
          </p:cNvPr>
          <p:cNvSpPr>
            <a:spLocks noGrp="1"/>
          </p:cNvSpPr>
          <p:nvPr/>
        </p:nvSpPr>
        <p:spPr>
          <a:xfrm>
            <a:off x="685800" y="4333875"/>
            <a:ext cx="10820400" cy="9525"/>
          </a:xfrm>
          <a:prstGeom prst="rect">
            <a:avLst/>
          </a:prstGeom>
          <a:solidFill>
            <a:srgbClr val="CDD8D2"/>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358F6C3B-E432-482D-AC96-C0C0F74EFAE2}"/>
              </a:ext>
            </a:extLst>
          </p:cNvPr>
          <p:cNvSpPr>
            <a:spLocks noGrp="1"/>
          </p:cNvSpPr>
          <p:nvPr/>
        </p:nvSpPr>
        <p:spPr>
          <a:xfrm>
            <a:off x="685800" y="4505325"/>
            <a:ext cx="523875" cy="609600"/>
          </a:xfrm>
          <a:prstGeom prst="rect">
            <a:avLst/>
          </a:prstGeom>
          <a:noFill/>
          <a:ln w="0">
            <a:noFill/>
            <a:prstDash val="solid"/>
          </a:ln>
        </p:spPr>
        <p:txBody>
          <a:bodyPr lIns="0" tIns="0" rIns="0" bIns="0" anchor="t"/>
          <a:lstStyle>
            <a:defPPr algn="l">
              <a:defRPr sz="3450" b="1">
                <a:solidFill>
                  <a:srgbClr val="087F78"/>
                </a:solidFill>
                <a:latin typeface="Arial"/>
                <a:ea typeface="Arial"/>
                <a:cs typeface="Arial"/>
              </a:defRPr>
            </a:defPPr>
          </a:lstStyle>
          <a:p>
            <a:pPr algn="l">
              <a:defRPr sz="3450" b="1">
                <a:solidFill>
                  <a:srgbClr val="087F78"/>
                </a:solidFill>
                <a:latin typeface="Arial"/>
                <a:ea typeface="Arial"/>
                <a:cs typeface="Arial"/>
              </a:defRPr>
            </a:pPr>
            <a:r>
              <a:rPr sz="3450" b="1">
                <a:solidFill>
                  <a:srgbClr val="087F78"/>
                </a:solidFill>
                <a:latin typeface="Arial"/>
                <a:ea typeface="Arial"/>
                <a:cs typeface="Arial"/>
              </a:rPr>
              <a:t>3</a:t>
            </a:r>
          </a:p>
        </p:txBody>
      </p:sp>
      <p:sp>
        <p:nvSpPr>
          <p:cNvPr id="14" name="Rectangle 13">
            <a:extLst>
              <a:ext uri="{FF2B5EF4-FFF2-40B4-BE49-F238E27FC236}">
                <a16:creationId xmlns:a16="http://schemas.microsoft.com/office/drawing/2014/main" id="{D456DAA7-B209-4D99-8796-234BE21E42A0}"/>
              </a:ext>
            </a:extLst>
          </p:cNvPr>
          <p:cNvSpPr>
            <a:spLocks noGrp="1"/>
          </p:cNvSpPr>
          <p:nvPr/>
        </p:nvSpPr>
        <p:spPr>
          <a:xfrm>
            <a:off x="1543050" y="4505325"/>
            <a:ext cx="4124325" cy="666750"/>
          </a:xfrm>
          <a:prstGeom prst="rect">
            <a:avLst/>
          </a:prstGeom>
          <a:noFill/>
          <a:ln w="0">
            <a:noFill/>
            <a:prstDash val="solid"/>
          </a:ln>
        </p:spPr>
        <p:txBody>
          <a:bodyPr lIns="0" tIns="0" rIns="0" bIns="0" anchor="t"/>
          <a:lstStyle>
            <a:defPPr algn="l">
              <a:defRPr sz="2250" b="1">
                <a:solidFill>
                  <a:srgbClr val="183B37"/>
                </a:solidFill>
                <a:latin typeface="Arial"/>
                <a:ea typeface="Arial"/>
                <a:cs typeface="Arial"/>
              </a:defRPr>
            </a:defPPr>
          </a:lstStyle>
          <a:p>
            <a:pPr algn="l">
              <a:defRPr sz="2250" b="1">
                <a:solidFill>
                  <a:srgbClr val="183B37"/>
                </a:solidFill>
                <a:latin typeface="Arial"/>
                <a:ea typeface="Arial"/>
                <a:cs typeface="Arial"/>
              </a:defRPr>
            </a:pPr>
            <a:r>
              <a:rPr sz="2250" b="1">
                <a:solidFill>
                  <a:srgbClr val="183B37"/>
                </a:solidFill>
                <a:latin typeface="Arial"/>
                <a:ea typeface="Arial"/>
                <a:cs typeface="Arial"/>
              </a:rPr>
              <a:t>Trả công khi chuyến hoàn tất</a:t>
            </a:r>
          </a:p>
        </p:txBody>
      </p:sp>
      <p:sp>
        <p:nvSpPr>
          <p:cNvPr id="15" name="Rectangle 14">
            <a:extLst>
              <a:ext uri="{FF2B5EF4-FFF2-40B4-BE49-F238E27FC236}">
                <a16:creationId xmlns:a16="http://schemas.microsoft.com/office/drawing/2014/main" id="{BDF04A2A-E62C-4BEB-93E4-3461EDD8C85A}"/>
              </a:ext>
            </a:extLst>
          </p:cNvPr>
          <p:cNvSpPr>
            <a:spLocks noGrp="1"/>
          </p:cNvSpPr>
          <p:nvPr/>
        </p:nvSpPr>
        <p:spPr>
          <a:xfrm>
            <a:off x="6076950" y="4505325"/>
            <a:ext cx="5353050" cy="904875"/>
          </a:xfrm>
          <a:prstGeom prst="rect">
            <a:avLst/>
          </a:prstGeom>
          <a:noFill/>
          <a:ln w="0">
            <a:noFill/>
            <a:prstDash val="solid"/>
          </a:ln>
        </p:spPr>
        <p:txBody>
          <a:bodyPr lIns="0" tIns="0" rIns="0" bIns="0" anchor="t"/>
          <a:lstStyle>
            <a:defPPr algn="l">
              <a:defRPr sz="1950" b="0">
                <a:solidFill>
                  <a:srgbClr val="183B37"/>
                </a:solidFill>
                <a:latin typeface="Arial"/>
                <a:ea typeface="Arial"/>
                <a:cs typeface="Arial"/>
              </a:defRPr>
            </a:defPPr>
          </a:lstStyle>
          <a:p>
            <a:pPr algn="l">
              <a:defRPr sz="1950" b="0">
                <a:solidFill>
                  <a:srgbClr val="183B37"/>
                </a:solidFill>
                <a:latin typeface="Arial"/>
                <a:ea typeface="Arial"/>
                <a:cs typeface="Arial"/>
              </a:defRPr>
            </a:pPr>
            <a:r>
              <a:rPr sz="1950" b="0">
                <a:solidFill>
                  <a:srgbClr val="183B37"/>
                </a:solidFill>
                <a:latin typeface="Arial"/>
                <a:ea typeface="Arial"/>
                <a:cs typeface="Arial"/>
              </a:rPr>
              <a:t>Tài xế nhận 100% giá cước hiển thị; giả định synthetic, đơn vị tiền giả lập.</a:t>
            </a:r>
          </a:p>
        </p:txBody>
      </p:sp>
      <p:sp>
        <p:nvSpPr>
          <p:cNvPr id="16" name="Rectangle 15">
            <a:extLst>
              <a:ext uri="{FF2B5EF4-FFF2-40B4-BE49-F238E27FC236}">
                <a16:creationId xmlns:a16="http://schemas.microsoft.com/office/drawing/2014/main" id="{CB90D17B-7504-4AD6-A6D0-96F733F6EB33}"/>
              </a:ext>
            </a:extLst>
          </p:cNvPr>
          <p:cNvSpPr>
            <a:spLocks noGrp="1"/>
          </p:cNvSpPr>
          <p:nvPr/>
        </p:nvSpPr>
        <p:spPr>
          <a:xfrm>
            <a:off x="685800" y="5934075"/>
            <a:ext cx="10572750" cy="47625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Ngoài phạm vi: ưu đãi, online/offline động, phân ca và cân bằng thu nhập–giờ làm.</a:t>
            </a:r>
          </a:p>
        </p:txBody>
      </p:sp>
    </p:spTree>
    <p:extLst>
      <p:ext uri="{BB962C8B-B14F-4D97-AF65-F5344CB8AC3E}">
        <p14:creationId xmlns:p14="http://schemas.microsoft.com/office/powerpoint/2010/main" val="738741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A809307-334D-4D9A-B6B8-CBFD88003535}"/>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a:solidFill>
                  <a:srgbClr val="183B37"/>
                </a:solidFill>
                <a:latin typeface="Arial"/>
                <a:ea typeface="Arial"/>
                <a:cs typeface="Arial"/>
              </a:rPr>
              <a:t>Luồng xử lý của PoC</a:t>
            </a:r>
          </a:p>
        </p:txBody>
      </p:sp>
      <p:sp>
        <p:nvSpPr>
          <p:cNvPr id="2" name="Rectangle 1">
            <a:extLst>
              <a:ext uri="{FF2B5EF4-FFF2-40B4-BE49-F238E27FC236}">
                <a16:creationId xmlns:a16="http://schemas.microsoft.com/office/drawing/2014/main" id="{1D2DA122-26AF-4715-BECD-C374B86D0C4B}"/>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Giá → lựa chọn → yêu cầu → nhận đơn → kết quả vận hành</a:t>
            </a:r>
          </a:p>
        </p:txBody>
      </p:sp>
      <p:sp>
        <p:nvSpPr>
          <p:cNvPr id="3" name="Rectangle 2">
            <a:extLst>
              <a:ext uri="{FF2B5EF4-FFF2-40B4-BE49-F238E27FC236}">
                <a16:creationId xmlns:a16="http://schemas.microsoft.com/office/drawing/2014/main" id="{3DEC3ED2-D809-4B33-AB88-EE8217F6CD68}"/>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748E93C5-9091-48DB-873D-4CAD170B3881}"/>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06</a:t>
            </a:r>
          </a:p>
        </p:txBody>
      </p:sp>
      <p:sp>
        <p:nvSpPr>
          <p:cNvPr id="5" name="Rectangle 4">
            <a:extLst>
              <a:ext uri="{FF2B5EF4-FFF2-40B4-BE49-F238E27FC236}">
                <a16:creationId xmlns:a16="http://schemas.microsoft.com/office/drawing/2014/main" id="{8D8020CD-23EB-498F-A12C-C0332B525C4C}"/>
              </a:ext>
            </a:extLst>
          </p:cNvPr>
          <p:cNvSpPr>
            <a:spLocks noGrp="1"/>
          </p:cNvSpPr>
          <p:nvPr/>
        </p:nvSpPr>
        <p:spPr>
          <a:xfrm>
            <a:off x="685800" y="2743200"/>
            <a:ext cx="2000250" cy="1657350"/>
          </a:xfrm>
          <a:prstGeom prst="rect">
            <a:avLst/>
          </a:prstGeom>
          <a:solidFill>
            <a:srgbClr val="183B37"/>
          </a:solidFill>
          <a:ln w="0">
            <a:noFill/>
            <a:prstDash val="solid"/>
          </a:ln>
        </p:spPr>
        <p:txBody>
          <a:bodyPr/>
          <a:lstStyle/>
          <a:p>
            <a:endParaRPr lang="en-US"/>
          </a:p>
        </p:txBody>
      </p:sp>
      <p:sp>
        <p:nvSpPr>
          <p:cNvPr id="6" name="Rectangle 5">
            <a:extLst>
              <a:ext uri="{FF2B5EF4-FFF2-40B4-BE49-F238E27FC236}">
                <a16:creationId xmlns:a16="http://schemas.microsoft.com/office/drawing/2014/main" id="{B08BE295-1CAD-4432-8B46-B8803D354BAF}"/>
              </a:ext>
            </a:extLst>
          </p:cNvPr>
          <p:cNvSpPr>
            <a:spLocks noGrp="1"/>
          </p:cNvSpPr>
          <p:nvPr/>
        </p:nvSpPr>
        <p:spPr>
          <a:xfrm>
            <a:off x="800100" y="2924175"/>
            <a:ext cx="1771650" cy="419100"/>
          </a:xfrm>
          <a:prstGeom prst="rect">
            <a:avLst/>
          </a:prstGeom>
          <a:noFill/>
          <a:ln w="0">
            <a:noFill/>
            <a:prstDash val="solid"/>
          </a:ln>
        </p:spPr>
        <p:txBody>
          <a:bodyPr lIns="0" tIns="0" rIns="0" bIns="0" anchor="t"/>
          <a:lstStyle>
            <a:defPPr algn="ctr">
              <a:defRPr sz="2025" b="1">
                <a:solidFill>
                  <a:srgbClr val="FFFFFF"/>
                </a:solidFill>
                <a:latin typeface="Arial"/>
                <a:ea typeface="Arial"/>
                <a:cs typeface="Arial"/>
              </a:defRPr>
            </a:def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Kịch bản giá</a:t>
            </a:r>
          </a:p>
        </p:txBody>
      </p:sp>
      <p:sp>
        <p:nvSpPr>
          <p:cNvPr id="7" name="Rectangle 6">
            <a:extLst>
              <a:ext uri="{FF2B5EF4-FFF2-40B4-BE49-F238E27FC236}">
                <a16:creationId xmlns:a16="http://schemas.microsoft.com/office/drawing/2014/main" id="{FE741002-794F-4861-940A-3E0D66B9B4C0}"/>
              </a:ext>
            </a:extLst>
          </p:cNvPr>
          <p:cNvSpPr>
            <a:spLocks noGrp="1"/>
          </p:cNvSpPr>
          <p:nvPr/>
        </p:nvSpPr>
        <p:spPr>
          <a:xfrm>
            <a:off x="819150" y="3495675"/>
            <a:ext cx="1733550" cy="800100"/>
          </a:xfrm>
          <a:prstGeom prst="rect">
            <a:avLst/>
          </a:prstGeom>
          <a:noFill/>
          <a:ln w="0">
            <a:noFill/>
            <a:prstDash val="solid"/>
          </a:ln>
        </p:spPr>
        <p:txBody>
          <a:bodyPr lIns="0" tIns="0" rIns="0" bIns="0" anchor="t"/>
          <a:lstStyle>
            <a:defPPr algn="ctr">
              <a:defRPr sz="1725" b="0">
                <a:solidFill>
                  <a:srgbClr val="FFFFFF"/>
                </a:solidFill>
                <a:latin typeface="Arial"/>
                <a:ea typeface="Arial"/>
                <a:cs typeface="Arial"/>
              </a:defRPr>
            </a:defPPr>
          </a:lstStyle>
          <a:p>
            <a:pPr algn="ctr">
              <a:defRPr sz="1725" b="0">
                <a:solidFill>
                  <a:srgbClr val="FFFFFF"/>
                </a:solidFill>
                <a:latin typeface="Arial"/>
                <a:ea typeface="Arial"/>
                <a:cs typeface="Arial"/>
              </a:defRPr>
            </a:pPr>
            <a:r>
              <a:rPr sz="1725" b="0">
                <a:solidFill>
                  <a:srgbClr val="FFFFFF"/>
                </a:solidFill>
                <a:latin typeface="Arial"/>
                <a:ea typeface="Arial"/>
                <a:cs typeface="Arial"/>
              </a:rPr>
              <a:t>Giá X/Y và</a:t>
            </a:r>
          </a:p>
          <a:p>
            <a:pPr algn="ctr">
              <a:defRPr sz="1725" b="0">
                <a:solidFill>
                  <a:srgbClr val="FFFFFF"/>
                </a:solidFill>
                <a:latin typeface="Arial"/>
                <a:ea typeface="Arial"/>
                <a:cs typeface="Arial"/>
              </a:defRPr>
            </a:pPr>
            <a:r>
              <a:rPr sz="1725" b="0">
                <a:solidFill>
                  <a:srgbClr val="FFFFFF"/>
                </a:solidFill>
                <a:latin typeface="Arial"/>
                <a:ea typeface="Arial"/>
                <a:cs typeface="Arial"/>
              </a:rPr>
              <a:t>điều kiện nền</a:t>
            </a:r>
          </a:p>
        </p:txBody>
      </p:sp>
      <p:sp>
        <p:nvSpPr>
          <p:cNvPr id="8" name="Arrow: Right 7">
            <a:extLst>
              <a:ext uri="{FF2B5EF4-FFF2-40B4-BE49-F238E27FC236}">
                <a16:creationId xmlns:a16="http://schemas.microsoft.com/office/drawing/2014/main" id="{0F98346A-2B62-4DF1-99AF-4102DC478C17}"/>
              </a:ext>
            </a:extLst>
          </p:cNvPr>
          <p:cNvSpPr>
            <a:spLocks noGrp="1"/>
          </p:cNvSpPr>
          <p:nvPr/>
        </p:nvSpPr>
        <p:spPr>
          <a:xfrm>
            <a:off x="2724150" y="3362325"/>
            <a:ext cx="161925" cy="295275"/>
          </a:xfrm>
          <a:prstGeom prst="rightArrow">
            <a:avLst/>
          </a:prstGeom>
          <a:solidFill>
            <a:srgbClr val="087F78"/>
          </a:solidFill>
          <a:ln w="0">
            <a:noFill/>
            <a:prstDash val="solid"/>
          </a:ln>
        </p:spPr>
        <p:txBody>
          <a:bodyPr/>
          <a:lstStyle/>
          <a:p>
            <a:endParaRPr lang="en-US"/>
          </a:p>
        </p:txBody>
      </p:sp>
      <p:sp>
        <p:nvSpPr>
          <p:cNvPr id="9" name="Rectangle 8">
            <a:extLst>
              <a:ext uri="{FF2B5EF4-FFF2-40B4-BE49-F238E27FC236}">
                <a16:creationId xmlns:a16="http://schemas.microsoft.com/office/drawing/2014/main" id="{E84F0D3A-264C-4E63-9813-A62DAD3E9CBE}"/>
              </a:ext>
            </a:extLst>
          </p:cNvPr>
          <p:cNvSpPr>
            <a:spLocks noGrp="1"/>
          </p:cNvSpPr>
          <p:nvPr/>
        </p:nvSpPr>
        <p:spPr>
          <a:xfrm>
            <a:off x="2886075" y="2743200"/>
            <a:ext cx="2000250" cy="1657350"/>
          </a:xfrm>
          <a:prstGeom prst="rect">
            <a:avLst/>
          </a:prstGeom>
          <a:solidFill>
            <a:srgbClr val="D6E8DF"/>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3A26D3E-5C2E-45A2-A32D-4AA93F6459CC}"/>
              </a:ext>
            </a:extLst>
          </p:cNvPr>
          <p:cNvSpPr>
            <a:spLocks noGrp="1"/>
          </p:cNvSpPr>
          <p:nvPr/>
        </p:nvSpPr>
        <p:spPr>
          <a:xfrm>
            <a:off x="3000375" y="2924175"/>
            <a:ext cx="1771650" cy="419100"/>
          </a:xfrm>
          <a:prstGeom prst="rect">
            <a:avLst/>
          </a:prstGeom>
          <a:noFill/>
          <a:ln w="0">
            <a:noFill/>
            <a:prstDash val="solid"/>
          </a:ln>
        </p:spPr>
        <p:txBody>
          <a:bodyPr lIns="0" tIns="0" rIns="0" bIns="0" anchor="t"/>
          <a:lstStyle>
            <a:defPPr algn="ctr">
              <a:defRPr sz="2025" b="1">
                <a:solidFill>
                  <a:srgbClr val="183B37"/>
                </a:solidFill>
                <a:latin typeface="Arial"/>
                <a:ea typeface="Arial"/>
                <a:cs typeface="Arial"/>
              </a:defRPr>
            </a:defPPr>
          </a:lstStyle>
          <a:p>
            <a:pPr algn="ctr">
              <a:defRPr sz="2025" b="1">
                <a:solidFill>
                  <a:srgbClr val="183B37"/>
                </a:solidFill>
                <a:latin typeface="Arial"/>
                <a:ea typeface="Arial"/>
                <a:cs typeface="Arial"/>
              </a:defRPr>
            </a:pPr>
            <a:r>
              <a:rPr sz="2025" b="1">
                <a:solidFill>
                  <a:srgbClr val="183B37"/>
                </a:solidFill>
                <a:latin typeface="Arial"/>
                <a:ea typeface="Arial"/>
                <a:cs typeface="Arial"/>
              </a:rPr>
              <a:t>Lựa chọn</a:t>
            </a:r>
          </a:p>
        </p:txBody>
      </p:sp>
      <p:sp>
        <p:nvSpPr>
          <p:cNvPr id="11" name="Rectangle 10">
            <a:extLst>
              <a:ext uri="{FF2B5EF4-FFF2-40B4-BE49-F238E27FC236}">
                <a16:creationId xmlns:a16="http://schemas.microsoft.com/office/drawing/2014/main" id="{AE0284B0-638C-4B95-B6C1-8531A04A242A}"/>
              </a:ext>
            </a:extLst>
          </p:cNvPr>
          <p:cNvSpPr>
            <a:spLocks noGrp="1"/>
          </p:cNvSpPr>
          <p:nvPr/>
        </p:nvSpPr>
        <p:spPr>
          <a:xfrm>
            <a:off x="3019425" y="3495675"/>
            <a:ext cx="1733550" cy="800100"/>
          </a:xfrm>
          <a:prstGeom prst="rect">
            <a:avLst/>
          </a:prstGeom>
          <a:noFill/>
          <a:ln w="0">
            <a:noFill/>
            <a:prstDash val="solid"/>
          </a:ln>
        </p:spPr>
        <p:txBody>
          <a:bodyPr lIns="0" tIns="0" rIns="0" bIns="0" anchor="t"/>
          <a:lstStyle>
            <a:defPPr algn="ctr">
              <a:defRPr sz="1725" b="0">
                <a:solidFill>
                  <a:srgbClr val="183B37"/>
                </a:solidFill>
                <a:latin typeface="Arial"/>
                <a:ea typeface="Arial"/>
                <a:cs typeface="Arial"/>
              </a:defRPr>
            </a:defPPr>
          </a:lstStyle>
          <a:p>
            <a:pPr algn="ctr">
              <a:defRPr sz="1725" b="0">
                <a:solidFill>
                  <a:srgbClr val="183B37"/>
                </a:solidFill>
                <a:latin typeface="Arial"/>
                <a:ea typeface="Arial"/>
                <a:cs typeface="Arial"/>
              </a:defRPr>
            </a:pPr>
            <a:r>
              <a:rPr sz="1725" b="0">
                <a:solidFill>
                  <a:srgbClr val="183B37"/>
                </a:solidFill>
                <a:latin typeface="Arial"/>
                <a:ea typeface="Arial"/>
                <a:cs typeface="Arial"/>
              </a:rPr>
              <a:t>X / Y /</a:t>
            </a:r>
          </a:p>
          <a:p>
            <a:pPr algn="ctr">
              <a:defRPr sz="1725" b="0">
                <a:solidFill>
                  <a:srgbClr val="183B37"/>
                </a:solidFill>
                <a:latin typeface="Arial"/>
                <a:ea typeface="Arial"/>
                <a:cs typeface="Arial"/>
              </a:defRPr>
            </a:pPr>
            <a:r>
              <a:rPr sz="1725" b="0">
                <a:solidFill>
                  <a:srgbClr val="183B37"/>
                </a:solidFill>
                <a:latin typeface="Arial"/>
                <a:ea typeface="Arial"/>
                <a:cs typeface="Arial"/>
              </a:rPr>
              <a:t>không đặt</a:t>
            </a:r>
          </a:p>
        </p:txBody>
      </p:sp>
      <p:sp>
        <p:nvSpPr>
          <p:cNvPr id="12" name="Arrow: Right 11">
            <a:extLst>
              <a:ext uri="{FF2B5EF4-FFF2-40B4-BE49-F238E27FC236}">
                <a16:creationId xmlns:a16="http://schemas.microsoft.com/office/drawing/2014/main" id="{928F1F26-FB5C-401A-AF65-A68DF26FCF14}"/>
              </a:ext>
            </a:extLst>
          </p:cNvPr>
          <p:cNvSpPr>
            <a:spLocks noGrp="1"/>
          </p:cNvSpPr>
          <p:nvPr/>
        </p:nvSpPr>
        <p:spPr>
          <a:xfrm>
            <a:off x="4924425" y="3362325"/>
            <a:ext cx="161925" cy="295275"/>
          </a:xfrm>
          <a:prstGeom prst="rightArrow">
            <a:avLst/>
          </a:prstGeom>
          <a:solidFill>
            <a:srgbClr val="087F78"/>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851AFE1A-FF71-43AC-95CF-F620CF64C525}"/>
              </a:ext>
            </a:extLst>
          </p:cNvPr>
          <p:cNvSpPr>
            <a:spLocks noGrp="1"/>
          </p:cNvSpPr>
          <p:nvPr/>
        </p:nvSpPr>
        <p:spPr>
          <a:xfrm>
            <a:off x="5086350" y="2743200"/>
            <a:ext cx="2000250" cy="1657350"/>
          </a:xfrm>
          <a:prstGeom prst="rect">
            <a:avLst/>
          </a:prstGeom>
          <a:solidFill>
            <a:srgbClr val="D6E8DF"/>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7934869-C149-4EF8-9F33-895DB21828F1}"/>
              </a:ext>
            </a:extLst>
          </p:cNvPr>
          <p:cNvSpPr>
            <a:spLocks noGrp="1"/>
          </p:cNvSpPr>
          <p:nvPr/>
        </p:nvSpPr>
        <p:spPr>
          <a:xfrm>
            <a:off x="5200650" y="2924175"/>
            <a:ext cx="1771650" cy="419100"/>
          </a:xfrm>
          <a:prstGeom prst="rect">
            <a:avLst/>
          </a:prstGeom>
          <a:noFill/>
          <a:ln w="0">
            <a:noFill/>
            <a:prstDash val="solid"/>
          </a:ln>
        </p:spPr>
        <p:txBody>
          <a:bodyPr lIns="0" tIns="0" rIns="0" bIns="0" anchor="t"/>
          <a:lstStyle>
            <a:defPPr algn="ctr">
              <a:defRPr sz="2025" b="1">
                <a:solidFill>
                  <a:srgbClr val="183B37"/>
                </a:solidFill>
                <a:latin typeface="Arial"/>
                <a:ea typeface="Arial"/>
                <a:cs typeface="Arial"/>
              </a:defRPr>
            </a:defPPr>
          </a:lstStyle>
          <a:p>
            <a:pPr algn="ctr">
              <a:defRPr sz="2025" b="1">
                <a:solidFill>
                  <a:srgbClr val="183B37"/>
                </a:solidFill>
                <a:latin typeface="Arial"/>
                <a:ea typeface="Arial"/>
                <a:cs typeface="Arial"/>
              </a:defRPr>
            </a:pPr>
            <a:r>
              <a:rPr sz="2025" b="1">
                <a:solidFill>
                  <a:srgbClr val="183B37"/>
                </a:solidFill>
                <a:latin typeface="Arial"/>
                <a:ea typeface="Arial"/>
                <a:cs typeface="Arial"/>
              </a:rPr>
              <a:t>Yêu cầu</a:t>
            </a:r>
          </a:p>
        </p:txBody>
      </p:sp>
      <p:sp>
        <p:nvSpPr>
          <p:cNvPr id="15" name="Rectangle 14">
            <a:extLst>
              <a:ext uri="{FF2B5EF4-FFF2-40B4-BE49-F238E27FC236}">
                <a16:creationId xmlns:a16="http://schemas.microsoft.com/office/drawing/2014/main" id="{73B7247F-4C3A-41FD-A0D0-A231FEDDB312}"/>
              </a:ext>
            </a:extLst>
          </p:cNvPr>
          <p:cNvSpPr>
            <a:spLocks noGrp="1"/>
          </p:cNvSpPr>
          <p:nvPr/>
        </p:nvSpPr>
        <p:spPr>
          <a:xfrm>
            <a:off x="5219700" y="3495675"/>
            <a:ext cx="1733550" cy="800100"/>
          </a:xfrm>
          <a:prstGeom prst="rect">
            <a:avLst/>
          </a:prstGeom>
          <a:noFill/>
          <a:ln w="0">
            <a:noFill/>
            <a:prstDash val="solid"/>
          </a:ln>
        </p:spPr>
        <p:txBody>
          <a:bodyPr lIns="0" tIns="0" rIns="0" bIns="0" anchor="t"/>
          <a:lstStyle>
            <a:defPPr algn="ctr">
              <a:defRPr sz="1725" b="0">
                <a:solidFill>
                  <a:srgbClr val="183B37"/>
                </a:solidFill>
                <a:latin typeface="Arial"/>
                <a:ea typeface="Arial"/>
                <a:cs typeface="Arial"/>
              </a:defRPr>
            </a:defPPr>
          </a:lstStyle>
          <a:p>
            <a:pPr algn="ctr">
              <a:defRPr sz="1725" b="0">
                <a:solidFill>
                  <a:srgbClr val="183B37"/>
                </a:solidFill>
                <a:latin typeface="Arial"/>
                <a:ea typeface="Arial"/>
                <a:cs typeface="Arial"/>
              </a:defRPr>
            </a:pPr>
            <a:r>
              <a:rPr sz="1725" b="0">
                <a:solidFill>
                  <a:srgbClr val="183B37"/>
                </a:solidFill>
                <a:latin typeface="Arial"/>
                <a:ea typeface="Arial"/>
                <a:cs typeface="Arial"/>
              </a:rPr>
              <a:t>Theo khu vực</a:t>
            </a:r>
          </a:p>
          <a:p>
            <a:pPr algn="ctr">
              <a:defRPr sz="1725" b="0">
                <a:solidFill>
                  <a:srgbClr val="183B37"/>
                </a:solidFill>
                <a:latin typeface="Arial"/>
                <a:ea typeface="Arial"/>
                <a:cs typeface="Arial"/>
              </a:defRPr>
            </a:pPr>
            <a:r>
              <a:rPr sz="1725" b="0">
                <a:solidFill>
                  <a:srgbClr val="183B37"/>
                </a:solidFill>
                <a:latin typeface="Arial"/>
                <a:ea typeface="Arial"/>
                <a:cs typeface="Arial"/>
              </a:rPr>
              <a:t>và khung giờ</a:t>
            </a:r>
          </a:p>
        </p:txBody>
      </p:sp>
      <p:sp>
        <p:nvSpPr>
          <p:cNvPr id="16" name="Arrow: Right 15">
            <a:extLst>
              <a:ext uri="{FF2B5EF4-FFF2-40B4-BE49-F238E27FC236}">
                <a16:creationId xmlns:a16="http://schemas.microsoft.com/office/drawing/2014/main" id="{7A9E417A-B406-468C-AF7A-045294CBC5AF}"/>
              </a:ext>
            </a:extLst>
          </p:cNvPr>
          <p:cNvSpPr>
            <a:spLocks noGrp="1"/>
          </p:cNvSpPr>
          <p:nvPr/>
        </p:nvSpPr>
        <p:spPr>
          <a:xfrm>
            <a:off x="7124700" y="3362325"/>
            <a:ext cx="161925" cy="295275"/>
          </a:xfrm>
          <a:prstGeom prst="rightArrow">
            <a:avLst/>
          </a:prstGeom>
          <a:solidFill>
            <a:srgbClr val="087F78"/>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AE81062A-1BD1-4DD4-BBCF-5EEEC4FBB7C2}"/>
              </a:ext>
            </a:extLst>
          </p:cNvPr>
          <p:cNvSpPr>
            <a:spLocks noGrp="1"/>
          </p:cNvSpPr>
          <p:nvPr/>
        </p:nvSpPr>
        <p:spPr>
          <a:xfrm>
            <a:off x="7286625" y="2743200"/>
            <a:ext cx="2000250" cy="1657350"/>
          </a:xfrm>
          <a:prstGeom prst="rect">
            <a:avLst/>
          </a:prstGeom>
          <a:solidFill>
            <a:srgbClr val="D6E8DF"/>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6E2555BB-8A27-402F-8818-0F73E9C9D4E5}"/>
              </a:ext>
            </a:extLst>
          </p:cNvPr>
          <p:cNvSpPr>
            <a:spLocks noGrp="1"/>
          </p:cNvSpPr>
          <p:nvPr/>
        </p:nvSpPr>
        <p:spPr>
          <a:xfrm>
            <a:off x="7400925" y="2924175"/>
            <a:ext cx="1771650" cy="419100"/>
          </a:xfrm>
          <a:prstGeom prst="rect">
            <a:avLst/>
          </a:prstGeom>
          <a:noFill/>
          <a:ln w="0">
            <a:noFill/>
            <a:prstDash val="solid"/>
          </a:ln>
        </p:spPr>
        <p:txBody>
          <a:bodyPr lIns="0" tIns="0" rIns="0" bIns="0" anchor="t"/>
          <a:lstStyle>
            <a:defPPr algn="ctr">
              <a:defRPr sz="2025" b="1">
                <a:solidFill>
                  <a:srgbClr val="183B37"/>
                </a:solidFill>
                <a:latin typeface="Arial"/>
                <a:ea typeface="Arial"/>
                <a:cs typeface="Arial"/>
              </a:defRPr>
            </a:defPPr>
          </a:lstStyle>
          <a:p>
            <a:pPr algn="ctr">
              <a:defRPr sz="2025" b="1">
                <a:solidFill>
                  <a:srgbClr val="183B37"/>
                </a:solidFill>
                <a:latin typeface="Arial"/>
                <a:ea typeface="Arial"/>
                <a:cs typeface="Arial"/>
              </a:defRPr>
            </a:pPr>
            <a:r>
              <a:rPr sz="2025" b="1">
                <a:solidFill>
                  <a:srgbClr val="183B37"/>
                </a:solidFill>
                <a:latin typeface="Arial"/>
                <a:ea typeface="Arial"/>
                <a:cs typeface="Arial"/>
              </a:rPr>
              <a:t>Ghép chuyến</a:t>
            </a:r>
          </a:p>
        </p:txBody>
      </p:sp>
      <p:sp>
        <p:nvSpPr>
          <p:cNvPr id="19" name="Rectangle 18">
            <a:extLst>
              <a:ext uri="{FF2B5EF4-FFF2-40B4-BE49-F238E27FC236}">
                <a16:creationId xmlns:a16="http://schemas.microsoft.com/office/drawing/2014/main" id="{67E29DD5-C112-4F45-AFE4-E1A688A99F51}"/>
              </a:ext>
            </a:extLst>
          </p:cNvPr>
          <p:cNvSpPr>
            <a:spLocks noGrp="1"/>
          </p:cNvSpPr>
          <p:nvPr/>
        </p:nvSpPr>
        <p:spPr>
          <a:xfrm>
            <a:off x="7419975" y="3495675"/>
            <a:ext cx="1733550" cy="800100"/>
          </a:xfrm>
          <a:prstGeom prst="rect">
            <a:avLst/>
          </a:prstGeom>
          <a:noFill/>
          <a:ln w="0">
            <a:noFill/>
            <a:prstDash val="solid"/>
          </a:ln>
        </p:spPr>
        <p:txBody>
          <a:bodyPr lIns="0" tIns="0" rIns="0" bIns="0" anchor="t"/>
          <a:lstStyle>
            <a:defPPr algn="ctr">
              <a:defRPr sz="1725" b="0">
                <a:solidFill>
                  <a:srgbClr val="183B37"/>
                </a:solidFill>
                <a:latin typeface="Arial"/>
                <a:ea typeface="Arial"/>
                <a:cs typeface="Arial"/>
              </a:defRPr>
            </a:defPPr>
          </a:lstStyle>
          <a:p>
            <a:pPr algn="ctr">
              <a:defRPr sz="1725" b="0">
                <a:solidFill>
                  <a:srgbClr val="183B37"/>
                </a:solidFill>
                <a:latin typeface="Arial"/>
                <a:ea typeface="Arial"/>
                <a:cs typeface="Arial"/>
              </a:defRPr>
            </a:pPr>
            <a:r>
              <a:rPr sz="1725" b="0">
                <a:solidFill>
                  <a:srgbClr val="183B37"/>
                </a:solidFill>
                <a:latin typeface="Arial"/>
                <a:ea typeface="Arial"/>
                <a:cs typeface="Arial"/>
              </a:rPr>
              <a:t>Đề nghị và</a:t>
            </a:r>
          </a:p>
          <a:p>
            <a:pPr algn="ctr">
              <a:defRPr sz="1725" b="0">
                <a:solidFill>
                  <a:srgbClr val="183B37"/>
                </a:solidFill>
                <a:latin typeface="Arial"/>
                <a:ea typeface="Arial"/>
                <a:cs typeface="Arial"/>
              </a:defRPr>
            </a:pPr>
            <a:r>
              <a:rPr sz="1725" b="0">
                <a:solidFill>
                  <a:srgbClr val="183B37"/>
                </a:solidFill>
                <a:latin typeface="Arial"/>
                <a:ea typeface="Arial"/>
                <a:cs typeface="Arial"/>
              </a:rPr>
              <a:t>nhận/từ chối</a:t>
            </a:r>
          </a:p>
        </p:txBody>
      </p:sp>
      <p:sp>
        <p:nvSpPr>
          <p:cNvPr id="20" name="Arrow: Right 19">
            <a:extLst>
              <a:ext uri="{FF2B5EF4-FFF2-40B4-BE49-F238E27FC236}">
                <a16:creationId xmlns:a16="http://schemas.microsoft.com/office/drawing/2014/main" id="{8935923E-FFDF-4F47-9F68-A483BF4F2E45}"/>
              </a:ext>
            </a:extLst>
          </p:cNvPr>
          <p:cNvSpPr>
            <a:spLocks noGrp="1"/>
          </p:cNvSpPr>
          <p:nvPr/>
        </p:nvSpPr>
        <p:spPr>
          <a:xfrm>
            <a:off x="9324975" y="3362325"/>
            <a:ext cx="161925" cy="295275"/>
          </a:xfrm>
          <a:prstGeom prst="rightArrow">
            <a:avLst/>
          </a:prstGeom>
          <a:solidFill>
            <a:srgbClr val="087F78"/>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25132F64-FFF1-40F5-972A-1C39CC7E9885}"/>
              </a:ext>
            </a:extLst>
          </p:cNvPr>
          <p:cNvSpPr>
            <a:spLocks noGrp="1"/>
          </p:cNvSpPr>
          <p:nvPr/>
        </p:nvSpPr>
        <p:spPr>
          <a:xfrm>
            <a:off x="9486900" y="2743200"/>
            <a:ext cx="2000250" cy="1657350"/>
          </a:xfrm>
          <a:prstGeom prst="rect">
            <a:avLst/>
          </a:prstGeom>
          <a:solidFill>
            <a:srgbClr val="183B37"/>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327D2EB1-C11F-4A5D-95FD-D4692FB83850}"/>
              </a:ext>
            </a:extLst>
          </p:cNvPr>
          <p:cNvSpPr>
            <a:spLocks noGrp="1"/>
          </p:cNvSpPr>
          <p:nvPr/>
        </p:nvSpPr>
        <p:spPr>
          <a:xfrm>
            <a:off x="9601200" y="2924175"/>
            <a:ext cx="1771650" cy="419100"/>
          </a:xfrm>
          <a:prstGeom prst="rect">
            <a:avLst/>
          </a:prstGeom>
          <a:noFill/>
          <a:ln w="0">
            <a:noFill/>
            <a:prstDash val="solid"/>
          </a:ln>
        </p:spPr>
        <p:txBody>
          <a:bodyPr lIns="0" tIns="0" rIns="0" bIns="0" anchor="t"/>
          <a:lstStyle>
            <a:defPPr algn="ctr">
              <a:defRPr sz="2025" b="1">
                <a:solidFill>
                  <a:srgbClr val="FFFFFF"/>
                </a:solidFill>
                <a:latin typeface="Arial"/>
                <a:ea typeface="Arial"/>
                <a:cs typeface="Arial"/>
              </a:defRPr>
            </a:def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Vận hành</a:t>
            </a:r>
          </a:p>
        </p:txBody>
      </p:sp>
      <p:sp>
        <p:nvSpPr>
          <p:cNvPr id="23" name="Rectangle 22">
            <a:extLst>
              <a:ext uri="{FF2B5EF4-FFF2-40B4-BE49-F238E27FC236}">
                <a16:creationId xmlns:a16="http://schemas.microsoft.com/office/drawing/2014/main" id="{70BD7A38-3BA7-44C9-A16B-CAADE166105A}"/>
              </a:ext>
            </a:extLst>
          </p:cNvPr>
          <p:cNvSpPr>
            <a:spLocks noGrp="1"/>
          </p:cNvSpPr>
          <p:nvPr/>
        </p:nvSpPr>
        <p:spPr>
          <a:xfrm>
            <a:off x="9620250" y="3495675"/>
            <a:ext cx="1733550" cy="800100"/>
          </a:xfrm>
          <a:prstGeom prst="rect">
            <a:avLst/>
          </a:prstGeom>
          <a:noFill/>
          <a:ln w="0">
            <a:noFill/>
            <a:prstDash val="solid"/>
          </a:ln>
        </p:spPr>
        <p:txBody>
          <a:bodyPr lIns="0" tIns="0" rIns="0" bIns="0" anchor="t"/>
          <a:lstStyle>
            <a:defPPr algn="ctr">
              <a:defRPr sz="1725" b="0">
                <a:solidFill>
                  <a:srgbClr val="FFFFFF"/>
                </a:solidFill>
                <a:latin typeface="Arial"/>
                <a:ea typeface="Arial"/>
                <a:cs typeface="Arial"/>
              </a:defRPr>
            </a:defPPr>
          </a:lstStyle>
          <a:p>
            <a:pPr algn="ctr">
              <a:defRPr sz="1725" b="0">
                <a:solidFill>
                  <a:srgbClr val="FFFFFF"/>
                </a:solidFill>
                <a:latin typeface="Arial"/>
                <a:ea typeface="Arial"/>
                <a:cs typeface="Arial"/>
              </a:defRPr>
            </a:pPr>
            <a:r>
              <a:rPr sz="1725" b="0">
                <a:solidFill>
                  <a:srgbClr val="FFFFFF"/>
                </a:solidFill>
                <a:latin typeface="Arial"/>
                <a:ea typeface="Arial"/>
                <a:cs typeface="Arial"/>
              </a:rPr>
              <a:t>Chuyến, chờ/hủy,</a:t>
            </a:r>
          </a:p>
          <a:p>
            <a:pPr algn="ctr">
              <a:defRPr sz="1725" b="0">
                <a:solidFill>
                  <a:srgbClr val="FFFFFF"/>
                </a:solidFill>
                <a:latin typeface="Arial"/>
                <a:ea typeface="Arial"/>
                <a:cs typeface="Arial"/>
              </a:defRPr>
            </a:pPr>
            <a:r>
              <a:rPr sz="1725" b="0">
                <a:solidFill>
                  <a:srgbClr val="FFFFFF"/>
                </a:solidFill>
                <a:latin typeface="Arial"/>
                <a:ea typeface="Arial"/>
                <a:cs typeface="Arial"/>
              </a:rPr>
              <a:t>rỗi và tiền công</a:t>
            </a:r>
          </a:p>
        </p:txBody>
      </p:sp>
      <p:sp>
        <p:nvSpPr>
          <p:cNvPr id="24" name="Rectangle 23">
            <a:extLst>
              <a:ext uri="{FF2B5EF4-FFF2-40B4-BE49-F238E27FC236}">
                <a16:creationId xmlns:a16="http://schemas.microsoft.com/office/drawing/2014/main" id="{75D78274-29D1-4862-A4D5-FD7C6ED4B8AA}"/>
              </a:ext>
            </a:extLst>
          </p:cNvPr>
          <p:cNvSpPr>
            <a:spLocks noGrp="1"/>
          </p:cNvSpPr>
          <p:nvPr/>
        </p:nvSpPr>
        <p:spPr>
          <a:xfrm>
            <a:off x="2390775" y="4895850"/>
            <a:ext cx="3810000" cy="400050"/>
          </a:xfrm>
          <a:prstGeom prst="rect">
            <a:avLst/>
          </a:prstGeom>
          <a:noFill/>
          <a:ln w="0">
            <a:noFill/>
            <a:prstDash val="solid"/>
          </a:ln>
        </p:spPr>
        <p:txBody>
          <a:bodyPr lIns="0" tIns="0" rIns="0" bIns="0" anchor="t"/>
          <a:lstStyle>
            <a:defPPr algn="l">
              <a:defRPr sz="1800" b="1">
                <a:solidFill>
                  <a:srgbClr val="087F78"/>
                </a:solidFill>
                <a:latin typeface="Arial"/>
                <a:ea typeface="Arial"/>
                <a:cs typeface="Arial"/>
              </a:defRPr>
            </a:defPPr>
          </a:lstStyle>
          <a:p>
            <a:pPr algn="l">
              <a:defRPr sz="1800" b="1">
                <a:solidFill>
                  <a:srgbClr val="087F78"/>
                </a:solidFill>
                <a:latin typeface="Arial"/>
                <a:ea typeface="Arial"/>
                <a:cs typeface="Arial"/>
              </a:defRPr>
            </a:pPr>
            <a:r>
              <a:rPr sz="1800" b="1">
                <a:solidFill>
                  <a:srgbClr val="087F78"/>
                </a:solidFill>
                <a:latin typeface="Arial"/>
                <a:ea typeface="Arial"/>
                <a:cs typeface="Arial"/>
              </a:rPr>
              <a:t>Tập phiên báo giá cố định</a:t>
            </a:r>
          </a:p>
        </p:txBody>
      </p:sp>
      <p:sp>
        <p:nvSpPr>
          <p:cNvPr id="25" name="Rectangle 24">
            <a:extLst>
              <a:ext uri="{FF2B5EF4-FFF2-40B4-BE49-F238E27FC236}">
                <a16:creationId xmlns:a16="http://schemas.microsoft.com/office/drawing/2014/main" id="{6EB7F8B6-2DF6-4ED2-A402-7D2E97C1722F}"/>
              </a:ext>
            </a:extLst>
          </p:cNvPr>
          <p:cNvSpPr>
            <a:spLocks noGrp="1"/>
          </p:cNvSpPr>
          <p:nvPr/>
        </p:nvSpPr>
        <p:spPr>
          <a:xfrm>
            <a:off x="7219950" y="4895850"/>
            <a:ext cx="3762375" cy="400050"/>
          </a:xfrm>
          <a:prstGeom prst="rect">
            <a:avLst/>
          </a:prstGeom>
          <a:noFill/>
          <a:ln w="0">
            <a:noFill/>
            <a:prstDash val="solid"/>
          </a:ln>
        </p:spPr>
        <p:txBody>
          <a:bodyPr lIns="0" tIns="0" rIns="0" bIns="0" anchor="t"/>
          <a:lstStyle>
            <a:defPPr algn="l">
              <a:defRPr sz="1800" b="1">
                <a:solidFill>
                  <a:srgbClr val="087F78"/>
                </a:solidFill>
                <a:latin typeface="Arial"/>
                <a:ea typeface="Arial"/>
                <a:cs typeface="Arial"/>
              </a:defRPr>
            </a:defPPr>
          </a:lstStyle>
          <a:p>
            <a:pPr algn="l">
              <a:defRPr sz="1800" b="1">
                <a:solidFill>
                  <a:srgbClr val="087F78"/>
                </a:solidFill>
                <a:latin typeface="Arial"/>
                <a:ea typeface="Arial"/>
                <a:cs typeface="Arial"/>
              </a:defRPr>
            </a:pPr>
            <a:r>
              <a:rPr sz="1800" b="1">
                <a:solidFill>
                  <a:srgbClr val="087F78"/>
                </a:solidFill>
                <a:latin typeface="Arial"/>
                <a:ea typeface="Arial"/>
                <a:cs typeface="Arial"/>
              </a:rPr>
              <a:t>Nhóm tài xế online cố định</a:t>
            </a:r>
          </a:p>
        </p:txBody>
      </p:sp>
      <p:sp>
        <p:nvSpPr>
          <p:cNvPr id="26" name="Rectangle 25">
            <a:extLst>
              <a:ext uri="{FF2B5EF4-FFF2-40B4-BE49-F238E27FC236}">
                <a16:creationId xmlns:a16="http://schemas.microsoft.com/office/drawing/2014/main" id="{AE8C0899-B6C1-44D3-8E88-C78832F8C850}"/>
              </a:ext>
            </a:extLst>
          </p:cNvPr>
          <p:cNvSpPr>
            <a:spLocks noGrp="1"/>
          </p:cNvSpPr>
          <p:nvPr/>
        </p:nvSpPr>
        <p:spPr>
          <a:xfrm>
            <a:off x="685800" y="5953125"/>
            <a:ext cx="10763250" cy="400050"/>
          </a:xfrm>
          <a:prstGeom prst="rect">
            <a:avLst/>
          </a:prstGeom>
          <a:noFill/>
          <a:ln w="0">
            <a:noFill/>
            <a:prstDash val="solid"/>
          </a:ln>
        </p:spPr>
        <p:txBody>
          <a:bodyPr lIns="0" tIns="0" rIns="0" bIns="0" anchor="t"/>
          <a:lstStyle>
            <a:defPPr algn="l">
              <a:defRPr sz="1875" b="1">
                <a:solidFill>
                  <a:srgbClr val="183B37"/>
                </a:solidFill>
                <a:latin typeface="Arial"/>
                <a:ea typeface="Arial"/>
                <a:cs typeface="Arial"/>
              </a:defRPr>
            </a:defPPr>
          </a:lstStyle>
          <a:p>
            <a:pPr algn="l">
              <a:defRPr sz="1875" b="1">
                <a:solidFill>
                  <a:srgbClr val="183B37"/>
                </a:solidFill>
                <a:latin typeface="Arial"/>
                <a:ea typeface="Arial"/>
                <a:cs typeface="Arial"/>
              </a:defRPr>
            </a:pPr>
            <a:r>
              <a:rPr sz="1875" b="1">
                <a:solidFill>
                  <a:srgbClr val="183B37"/>
                </a:solidFill>
                <a:latin typeface="Arial"/>
                <a:ea typeface="Arial"/>
                <a:cs typeface="Arial"/>
              </a:rPr>
              <a:t>Phạm vi hợp lệ, đơn vị và nguồn bằng chứng đi cùng từng đầu ra.</a:t>
            </a:r>
          </a:p>
        </p:txBody>
      </p:sp>
    </p:spTree>
    <p:extLst>
      <p:ext uri="{BB962C8B-B14F-4D97-AF65-F5344CB8AC3E}">
        <p14:creationId xmlns:p14="http://schemas.microsoft.com/office/powerpoint/2010/main" val="268567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71CEDA4-BC19-4730-8839-5E8AC67108DE}"/>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a:solidFill>
                  <a:srgbClr val="183B37"/>
                </a:solidFill>
                <a:latin typeface="Arial"/>
                <a:ea typeface="Arial"/>
                <a:cs typeface="Arial"/>
              </a:rPr>
              <a:t>Kịch bản X +10%: yêu cầu X giảm, Y tăng</a:t>
            </a:r>
          </a:p>
        </p:txBody>
      </p:sp>
      <p:sp>
        <p:nvSpPr>
          <p:cNvPr id="2" name="Rectangle 1">
            <a:extLst>
              <a:ext uri="{FF2B5EF4-FFF2-40B4-BE49-F238E27FC236}">
                <a16:creationId xmlns:a16="http://schemas.microsoft.com/office/drawing/2014/main" id="{2DFFEF2D-E454-4A40-A8A0-9C7FD5A853BF}"/>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dirty="0" err="1">
                <a:solidFill>
                  <a:srgbClr val="536663"/>
                </a:solidFill>
                <a:latin typeface="Arial"/>
                <a:ea typeface="Arial"/>
                <a:cs typeface="Arial"/>
              </a:rPr>
              <a:t>Mô</a:t>
            </a:r>
            <a:r>
              <a:rPr sz="1725" b="0" dirty="0">
                <a:solidFill>
                  <a:srgbClr val="536663"/>
                </a:solidFill>
                <a:latin typeface="Arial"/>
                <a:ea typeface="Arial"/>
                <a:cs typeface="Arial"/>
              </a:rPr>
              <a:t> </a:t>
            </a:r>
            <a:r>
              <a:rPr sz="1725" b="0" dirty="0" err="1">
                <a:solidFill>
                  <a:srgbClr val="536663"/>
                </a:solidFill>
                <a:latin typeface="Arial"/>
                <a:ea typeface="Arial"/>
                <a:cs typeface="Arial"/>
              </a:rPr>
              <a:t>phỏng</a:t>
            </a:r>
            <a:r>
              <a:rPr sz="1725" b="0" dirty="0">
                <a:solidFill>
                  <a:srgbClr val="536663"/>
                </a:solidFill>
                <a:latin typeface="Arial"/>
                <a:ea typeface="Arial"/>
                <a:cs typeface="Arial"/>
              </a:rPr>
              <a:t> </a:t>
            </a:r>
            <a:r>
              <a:rPr sz="1725" b="0" dirty="0" err="1">
                <a:solidFill>
                  <a:srgbClr val="536663"/>
                </a:solidFill>
                <a:latin typeface="Arial"/>
                <a:ea typeface="Arial"/>
                <a:cs typeface="Arial"/>
              </a:rPr>
              <a:t>có</a:t>
            </a:r>
            <a:r>
              <a:rPr sz="1725" b="0" dirty="0">
                <a:solidFill>
                  <a:srgbClr val="536663"/>
                </a:solidFill>
                <a:latin typeface="Arial"/>
                <a:ea typeface="Arial"/>
                <a:cs typeface="Arial"/>
              </a:rPr>
              <a:t> </a:t>
            </a:r>
            <a:r>
              <a:rPr sz="1725" b="0" dirty="0" err="1">
                <a:solidFill>
                  <a:srgbClr val="536663"/>
                </a:solidFill>
                <a:latin typeface="Arial"/>
                <a:ea typeface="Arial"/>
                <a:cs typeface="Arial"/>
              </a:rPr>
              <a:t>kiểm</a:t>
            </a:r>
            <a:r>
              <a:rPr sz="1725" b="0" dirty="0">
                <a:solidFill>
                  <a:srgbClr val="536663"/>
                </a:solidFill>
                <a:latin typeface="Arial"/>
                <a:ea typeface="Arial"/>
                <a:cs typeface="Arial"/>
              </a:rPr>
              <a:t> </a:t>
            </a:r>
            <a:r>
              <a:rPr sz="1725" b="0">
                <a:solidFill>
                  <a:srgbClr val="536663"/>
                </a:solidFill>
                <a:latin typeface="Arial"/>
                <a:ea typeface="Arial"/>
                <a:cs typeface="Arial"/>
              </a:rPr>
              <a:t>soá</a:t>
            </a:r>
            <a:r>
              <a:rPr lang="en-US" sz="1725" b="0">
                <a:solidFill>
                  <a:srgbClr val="536663"/>
                </a:solidFill>
                <a:latin typeface="Arial"/>
                <a:ea typeface="Arial"/>
                <a:cs typeface="Arial"/>
              </a:rPr>
              <a:t>t</a:t>
            </a:r>
            <a:endParaRPr sz="1725" b="0" dirty="0">
              <a:solidFill>
                <a:srgbClr val="536663"/>
              </a:solidFill>
              <a:latin typeface="Arial"/>
              <a:ea typeface="Arial"/>
              <a:cs typeface="Arial"/>
            </a:endParaRPr>
          </a:p>
        </p:txBody>
      </p:sp>
      <p:sp>
        <p:nvSpPr>
          <p:cNvPr id="3" name="Rectangle 2">
            <a:extLst>
              <a:ext uri="{FF2B5EF4-FFF2-40B4-BE49-F238E27FC236}">
                <a16:creationId xmlns:a16="http://schemas.microsoft.com/office/drawing/2014/main" id="{A2E29F23-DD96-4D64-A1DD-3BC87B09ED42}"/>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1DD9B413-6D59-462B-859D-3EAFB36C2EAA}"/>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07</a:t>
            </a:r>
          </a:p>
        </p:txBody>
      </p:sp>
      <p:graphicFrame>
        <p:nvGraphicFramePr>
          <p:cNvPr id="5" name="Chart">
            <a:extLst>
              <a:ext uri="{FF2B5EF4-FFF2-40B4-BE49-F238E27FC236}">
                <a16:creationId xmlns:a16="http://schemas.microsoft.com/office/drawing/2014/main" id="{657EA574-3E90-4E65-B2AC-C21888C30B5F}"/>
              </a:ext>
            </a:extLst>
          </p:cNvPr>
          <p:cNvGraphicFramePr/>
          <p:nvPr/>
        </p:nvGraphicFramePr>
        <p:xfrm>
          <a:off x="685800" y="2152650"/>
          <a:ext cx="712470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C4410D11-F7F0-45DA-BA54-799050503822}"/>
              </a:ext>
            </a:extLst>
          </p:cNvPr>
          <p:cNvSpPr>
            <a:spLocks noGrp="1"/>
          </p:cNvSpPr>
          <p:nvPr/>
        </p:nvSpPr>
        <p:spPr>
          <a:xfrm>
            <a:off x="8382000" y="2333625"/>
            <a:ext cx="2952750" cy="400050"/>
          </a:xfrm>
          <a:prstGeom prst="rect">
            <a:avLst/>
          </a:prstGeom>
          <a:noFill/>
          <a:ln w="0">
            <a:noFill/>
            <a:prstDash val="solid"/>
          </a:ln>
        </p:spPr>
        <p:txBody>
          <a:bodyPr lIns="0" tIns="0" rIns="0" bIns="0" anchor="t"/>
          <a:lstStyle>
            <a:defPPr algn="l">
              <a:defRPr sz="2100" b="1">
                <a:solidFill>
                  <a:srgbClr val="183B37"/>
                </a:solidFill>
                <a:latin typeface="Arial"/>
                <a:ea typeface="Arial"/>
                <a:cs typeface="Arial"/>
              </a:defRPr>
            </a:defPPr>
          </a:lstStyle>
          <a:p>
            <a:pPr algn="l">
              <a:defRPr sz="2100" b="1">
                <a:solidFill>
                  <a:srgbClr val="183B37"/>
                </a:solidFill>
                <a:latin typeface="Arial"/>
                <a:ea typeface="Arial"/>
                <a:cs typeface="Arial"/>
              </a:defRPr>
            </a:pPr>
            <a:r>
              <a:rPr sz="2100" b="1">
                <a:solidFill>
                  <a:srgbClr val="183B37"/>
                </a:solidFill>
                <a:latin typeface="Arial"/>
                <a:ea typeface="Arial"/>
                <a:cs typeface="Arial"/>
              </a:rPr>
              <a:t>Tổng yêu cầu</a:t>
            </a:r>
          </a:p>
        </p:txBody>
      </p:sp>
      <p:sp>
        <p:nvSpPr>
          <p:cNvPr id="7" name="Rectangle 6">
            <a:extLst>
              <a:ext uri="{FF2B5EF4-FFF2-40B4-BE49-F238E27FC236}">
                <a16:creationId xmlns:a16="http://schemas.microsoft.com/office/drawing/2014/main" id="{DB8E2E0F-E4EC-4188-948C-E9F5BB606A3F}"/>
              </a:ext>
            </a:extLst>
          </p:cNvPr>
          <p:cNvSpPr>
            <a:spLocks noGrp="1"/>
          </p:cNvSpPr>
          <p:nvPr/>
        </p:nvSpPr>
        <p:spPr>
          <a:xfrm>
            <a:off x="8382000" y="2990850"/>
            <a:ext cx="3028950" cy="581025"/>
          </a:xfrm>
          <a:prstGeom prst="rect">
            <a:avLst/>
          </a:prstGeom>
          <a:noFill/>
          <a:ln w="0">
            <a:noFill/>
            <a:prstDash val="solid"/>
          </a:ln>
        </p:spPr>
        <p:txBody>
          <a:bodyPr lIns="0" tIns="0" rIns="0" bIns="0" anchor="t"/>
          <a:lstStyle>
            <a:defPPr algn="l">
              <a:defRPr sz="2400" b="1">
                <a:solidFill>
                  <a:srgbClr val="183B37"/>
                </a:solidFill>
                <a:latin typeface="Arial"/>
                <a:ea typeface="Arial"/>
                <a:cs typeface="Arial"/>
              </a:defRPr>
            </a:defPPr>
          </a:lstStyle>
          <a:p>
            <a:pPr algn="l">
              <a:defRPr sz="2400" b="1">
                <a:solidFill>
                  <a:srgbClr val="183B37"/>
                </a:solidFill>
                <a:latin typeface="Arial"/>
                <a:ea typeface="Arial"/>
                <a:cs typeface="Arial"/>
              </a:defRPr>
            </a:pPr>
            <a:r>
              <a:rPr sz="2400" b="1">
                <a:solidFill>
                  <a:srgbClr val="183B37"/>
                </a:solidFill>
                <a:latin typeface="Arial"/>
                <a:ea typeface="Arial"/>
                <a:cs typeface="Arial"/>
              </a:rPr>
              <a:t>485,48 → 447,93</a:t>
            </a:r>
          </a:p>
        </p:txBody>
      </p:sp>
      <p:sp>
        <p:nvSpPr>
          <p:cNvPr id="8" name="Rectangle 7">
            <a:extLst>
              <a:ext uri="{FF2B5EF4-FFF2-40B4-BE49-F238E27FC236}">
                <a16:creationId xmlns:a16="http://schemas.microsoft.com/office/drawing/2014/main" id="{468FEC6C-75C2-4109-80E7-EBAF46A0853E}"/>
              </a:ext>
            </a:extLst>
          </p:cNvPr>
          <p:cNvSpPr>
            <a:spLocks noGrp="1"/>
          </p:cNvSpPr>
          <p:nvPr/>
        </p:nvSpPr>
        <p:spPr>
          <a:xfrm>
            <a:off x="8382000" y="3819525"/>
            <a:ext cx="2952750" cy="762000"/>
          </a:xfrm>
          <a:prstGeom prst="rect">
            <a:avLst/>
          </a:prstGeom>
          <a:noFill/>
          <a:ln w="0">
            <a:noFill/>
            <a:prstDash val="solid"/>
          </a:ln>
        </p:spPr>
        <p:txBody>
          <a:bodyPr lIns="0" tIns="0" rIns="0" bIns="0" anchor="t"/>
          <a:lstStyle>
            <a:defPPr algn="l">
              <a:defRPr sz="4500" b="1">
                <a:solidFill>
                  <a:srgbClr val="087F78"/>
                </a:solidFill>
                <a:latin typeface="Arial"/>
                <a:ea typeface="Arial"/>
                <a:cs typeface="Arial"/>
              </a:defRPr>
            </a:defPPr>
          </a:lstStyle>
          <a:p>
            <a:pPr algn="l">
              <a:defRPr sz="4500" b="1">
                <a:solidFill>
                  <a:srgbClr val="087F78"/>
                </a:solidFill>
                <a:latin typeface="Arial"/>
                <a:ea typeface="Arial"/>
                <a:cs typeface="Arial"/>
              </a:defRPr>
            </a:pPr>
            <a:r>
              <a:rPr sz="4500" b="1">
                <a:solidFill>
                  <a:srgbClr val="087F78"/>
                </a:solidFill>
                <a:latin typeface="Arial"/>
                <a:ea typeface="Arial"/>
                <a:cs typeface="Arial"/>
              </a:rPr>
              <a:t>−37,55</a:t>
            </a:r>
          </a:p>
        </p:txBody>
      </p:sp>
      <p:sp>
        <p:nvSpPr>
          <p:cNvPr id="9" name="Rectangle 8">
            <a:extLst>
              <a:ext uri="{FF2B5EF4-FFF2-40B4-BE49-F238E27FC236}">
                <a16:creationId xmlns:a16="http://schemas.microsoft.com/office/drawing/2014/main" id="{D3D730D7-ADCC-4411-AC33-303953F4EB04}"/>
              </a:ext>
            </a:extLst>
          </p:cNvPr>
          <p:cNvSpPr>
            <a:spLocks noGrp="1"/>
          </p:cNvSpPr>
          <p:nvPr/>
        </p:nvSpPr>
        <p:spPr>
          <a:xfrm>
            <a:off x="8382000" y="4657725"/>
            <a:ext cx="2952750" cy="428625"/>
          </a:xfrm>
          <a:prstGeom prst="rect">
            <a:avLst/>
          </a:prstGeom>
          <a:noFill/>
          <a:ln w="0">
            <a:noFill/>
            <a:prstDash val="solid"/>
          </a:ln>
        </p:spPr>
        <p:txBody>
          <a:bodyPr lIns="0" tIns="0" rIns="0" bIns="0" anchor="t"/>
          <a:lstStyle>
            <a:defPPr algn="l">
              <a:defRPr sz="1800" b="0">
                <a:solidFill>
                  <a:srgbClr val="536663"/>
                </a:solidFill>
                <a:latin typeface="Arial"/>
                <a:ea typeface="Arial"/>
                <a:cs typeface="Arial"/>
              </a:defRPr>
            </a:defPPr>
          </a:lstStyle>
          <a:p>
            <a:pPr algn="l">
              <a:defRPr sz="1800" b="0">
                <a:solidFill>
                  <a:srgbClr val="536663"/>
                </a:solidFill>
                <a:latin typeface="Arial"/>
                <a:ea typeface="Arial"/>
                <a:cs typeface="Arial"/>
              </a:defRPr>
            </a:pPr>
            <a:r>
              <a:rPr sz="1800" b="0">
                <a:solidFill>
                  <a:srgbClr val="536663"/>
                </a:solidFill>
                <a:latin typeface="Arial"/>
                <a:ea typeface="Arial"/>
                <a:cs typeface="Arial"/>
              </a:rPr>
              <a:t>yêu cầu / 2 giờ</a:t>
            </a:r>
          </a:p>
        </p:txBody>
      </p:sp>
      <p:sp>
        <p:nvSpPr>
          <p:cNvPr id="10" name="Rectangle 9">
            <a:extLst>
              <a:ext uri="{FF2B5EF4-FFF2-40B4-BE49-F238E27FC236}">
                <a16:creationId xmlns:a16="http://schemas.microsoft.com/office/drawing/2014/main" id="{F7E86DA2-5AD5-4FB8-8164-70BEBF9C7FE4}"/>
              </a:ext>
            </a:extLst>
          </p:cNvPr>
          <p:cNvSpPr>
            <a:spLocks noGrp="1"/>
          </p:cNvSpPr>
          <p:nvPr/>
        </p:nvSpPr>
        <p:spPr>
          <a:xfrm>
            <a:off x="685800" y="5962650"/>
            <a:ext cx="10610850" cy="428625"/>
          </a:xfrm>
          <a:prstGeom prst="rect">
            <a:avLst/>
          </a:prstGeom>
          <a:noFill/>
          <a:ln w="0">
            <a:noFill/>
            <a:prstDash val="solid"/>
          </a:ln>
        </p:spPr>
        <p:txBody>
          <a:bodyPr lIns="0" tIns="0" rIns="0" bIns="0" anchor="t"/>
          <a:lstStyle>
            <a:defPPr algn="l">
              <a:defRPr sz="1725" b="1">
                <a:solidFill>
                  <a:srgbClr val="9B5E18"/>
                </a:solidFill>
                <a:latin typeface="Arial"/>
                <a:ea typeface="Arial"/>
                <a:cs typeface="Arial"/>
              </a:defRPr>
            </a:defPPr>
          </a:lstStyle>
          <a:p>
            <a:pPr algn="l">
              <a:defRPr sz="1725" b="1">
                <a:solidFill>
                  <a:srgbClr val="9B5E18"/>
                </a:solidFill>
                <a:latin typeface="Arial"/>
                <a:ea typeface="Arial"/>
                <a:cs typeface="Arial"/>
              </a:defRPr>
            </a:pPr>
            <a:r>
              <a:rPr sz="1725" b="1">
                <a:solidFill>
                  <a:srgbClr val="9B5E18"/>
                </a:solidFill>
                <a:latin typeface="Arial"/>
                <a:ea typeface="Arial"/>
                <a:cs typeface="Arial"/>
              </a:rPr>
              <a:t>Trung bình mô phỏng trong tập phiên cố định; chưa là thay đổi nhu cầu thực tế GSM.</a:t>
            </a:r>
          </a:p>
        </p:txBody>
      </p:sp>
    </p:spTree>
    <p:extLst>
      <p:ext uri="{BB962C8B-B14F-4D97-AF65-F5344CB8AC3E}">
        <p14:creationId xmlns:p14="http://schemas.microsoft.com/office/powerpoint/2010/main" val="725798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2DDEF2-329A-4D77-9E3A-9AD42CCA751D}"/>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a:solidFill>
                  <a:srgbClr val="183B37"/>
                </a:solidFill>
                <a:latin typeface="Arial"/>
                <a:ea typeface="Arial"/>
                <a:cs typeface="Arial"/>
              </a:rPr>
              <a:t>Nhu cầu và chuyến hoàn tất là hai đầu ra khác nhau</a:t>
            </a:r>
          </a:p>
        </p:txBody>
      </p:sp>
      <p:sp>
        <p:nvSpPr>
          <p:cNvPr id="2" name="Rectangle 1">
            <a:extLst>
              <a:ext uri="{FF2B5EF4-FFF2-40B4-BE49-F238E27FC236}">
                <a16:creationId xmlns:a16="http://schemas.microsoft.com/office/drawing/2014/main" id="{E841F454-3D52-4B0F-80AA-6CDD7BABA8FB}"/>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Cùng kịch bản X +10% · trung bình 100 quỹ đạo · 2 tài xế online / 2 giờ</a:t>
            </a:r>
          </a:p>
        </p:txBody>
      </p:sp>
      <p:sp>
        <p:nvSpPr>
          <p:cNvPr id="3" name="Rectangle 2">
            <a:extLst>
              <a:ext uri="{FF2B5EF4-FFF2-40B4-BE49-F238E27FC236}">
                <a16:creationId xmlns:a16="http://schemas.microsoft.com/office/drawing/2014/main" id="{5D77B36F-59B5-4CD0-B3B2-D13FF7BBD2EF}"/>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434BA3BD-A780-4651-8722-6F4166BE350B}"/>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08</a:t>
            </a:r>
          </a:p>
        </p:txBody>
      </p:sp>
      <p:graphicFrame>
        <p:nvGraphicFramePr>
          <p:cNvPr id="5" name="Table 4">
            <a:extLst>
              <a:ext uri="{FF2B5EF4-FFF2-40B4-BE49-F238E27FC236}">
                <a16:creationId xmlns:a16="http://schemas.microsoft.com/office/drawing/2014/main" id="{3AD7C219-E3C2-4B0A-A9CB-CF4AEAB18E1F}"/>
              </a:ext>
            </a:extLst>
          </p:cNvPr>
          <p:cNvGraphicFramePr/>
          <p:nvPr/>
        </p:nvGraphicFramePr>
        <p:xfrm>
          <a:off x="685800" y="2190750"/>
          <a:ext cx="10820400" cy="2857500"/>
        </p:xfrm>
        <a:graphic>
          <a:graphicData uri="http://schemas.openxmlformats.org/drawingml/2006/table">
            <a:tbl>
              <a:tblPr/>
              <a:tblGrid>
                <a:gridCol w="41910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20193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714375">
                <a:tc>
                  <a:txBody>
                    <a:bodyPr/>
                    <a:lstStyle/>
                    <a:p>
                      <a:r>
                        <a:rPr sz="1950" b="1">
                          <a:solidFill>
                            <a:srgbClr val="FFFFFF"/>
                          </a:solidFill>
                          <a:latin typeface="Arial"/>
                          <a:ea typeface="Arial"/>
                          <a:cs typeface="Arial"/>
                        </a:rPr>
                        <a:t>Chỉ số</a:t>
                      </a:r>
                    </a:p>
                  </a:txBody>
                  <a:tcPr>
                    <a:solidFill>
                      <a:srgbClr val="183B37"/>
                    </a:solidFill>
                  </a:tcPr>
                </a:tc>
                <a:tc>
                  <a:txBody>
                    <a:bodyPr/>
                    <a:lstStyle/>
                    <a:p>
                      <a:r>
                        <a:rPr sz="1950" b="1">
                          <a:solidFill>
                            <a:srgbClr val="FFFFFF"/>
                          </a:solidFill>
                          <a:latin typeface="Arial"/>
                          <a:ea typeface="Arial"/>
                          <a:cs typeface="Arial"/>
                        </a:rPr>
                        <a:t>Giá gốc</a:t>
                      </a:r>
                    </a:p>
                  </a:txBody>
                  <a:tcPr>
                    <a:solidFill>
                      <a:srgbClr val="183B37"/>
                    </a:solidFill>
                  </a:tcPr>
                </a:tc>
                <a:tc>
                  <a:txBody>
                    <a:bodyPr/>
                    <a:lstStyle/>
                    <a:p>
                      <a:r>
                        <a:rPr sz="1950" b="1">
                          <a:solidFill>
                            <a:srgbClr val="FFFFFF"/>
                          </a:solidFill>
                          <a:latin typeface="Arial"/>
                          <a:ea typeface="Arial"/>
                          <a:cs typeface="Arial"/>
                        </a:rPr>
                        <a:t>X +10%</a:t>
                      </a:r>
                    </a:p>
                  </a:txBody>
                  <a:tcPr>
                    <a:solidFill>
                      <a:srgbClr val="183B37"/>
                    </a:solidFill>
                  </a:tcPr>
                </a:tc>
                <a:tc>
                  <a:txBody>
                    <a:bodyPr/>
                    <a:lstStyle/>
                    <a:p>
                      <a:r>
                        <a:rPr sz="1950" b="1">
                          <a:solidFill>
                            <a:srgbClr val="FFFFFF"/>
                          </a:solidFill>
                          <a:latin typeface="Arial"/>
                          <a:ea typeface="Arial"/>
                          <a:cs typeface="Arial"/>
                        </a:rPr>
                        <a:t>Chênh lệch</a:t>
                      </a:r>
                    </a:p>
                  </a:txBody>
                  <a:tcPr>
                    <a:solidFill>
                      <a:srgbClr val="183B37"/>
                    </a:solidFill>
                  </a:tcPr>
                </a:tc>
                <a:extLst>
                  <a:ext uri="{0D108BD9-81ED-4DB2-BD59-A6C34878D82A}">
                    <a16:rowId xmlns:a16="http://schemas.microsoft.com/office/drawing/2014/main" val="10000"/>
                  </a:ext>
                </a:extLst>
              </a:tr>
              <a:tr h="714375">
                <a:tc>
                  <a:txBody>
                    <a:bodyPr/>
                    <a:lstStyle/>
                    <a:p>
                      <a:r>
                        <a:rPr sz="1950" b="0">
                          <a:solidFill>
                            <a:srgbClr val="183B37"/>
                          </a:solidFill>
                          <a:latin typeface="Arial"/>
                          <a:ea typeface="Arial"/>
                          <a:cs typeface="Arial"/>
                        </a:rPr>
                        <a:t>Chuyến hoàn tất</a:t>
                      </a:r>
                    </a:p>
                  </a:txBody>
                  <a:tcPr>
                    <a:solidFill>
                      <a:srgbClr val="FFFFFF"/>
                    </a:solidFill>
                  </a:tcPr>
                </a:tc>
                <a:tc>
                  <a:txBody>
                    <a:bodyPr/>
                    <a:lstStyle/>
                    <a:p>
                      <a:r>
                        <a:rPr sz="1950" b="0">
                          <a:solidFill>
                            <a:srgbClr val="183B37"/>
                          </a:solidFill>
                          <a:latin typeface="Arial"/>
                          <a:ea typeface="Arial"/>
                          <a:cs typeface="Arial"/>
                        </a:rPr>
                        <a:t>3,88</a:t>
                      </a:r>
                    </a:p>
                  </a:txBody>
                  <a:tcPr>
                    <a:solidFill>
                      <a:srgbClr val="FFFFFF"/>
                    </a:solidFill>
                  </a:tcPr>
                </a:tc>
                <a:tc>
                  <a:txBody>
                    <a:bodyPr/>
                    <a:lstStyle/>
                    <a:p>
                      <a:r>
                        <a:rPr sz="1950" b="0">
                          <a:solidFill>
                            <a:srgbClr val="183B37"/>
                          </a:solidFill>
                          <a:latin typeface="Arial"/>
                          <a:ea typeface="Arial"/>
                          <a:cs typeface="Arial"/>
                        </a:rPr>
                        <a:t>4,36</a:t>
                      </a:r>
                    </a:p>
                  </a:txBody>
                  <a:tcPr>
                    <a:solidFill>
                      <a:srgbClr val="FFFFFF"/>
                    </a:solidFill>
                  </a:tcPr>
                </a:tc>
                <a:tc>
                  <a:txBody>
                    <a:bodyPr/>
                    <a:lstStyle/>
                    <a:p>
                      <a:r>
                        <a:rPr sz="1950" b="0">
                          <a:solidFill>
                            <a:srgbClr val="183B37"/>
                          </a:solidFill>
                          <a:latin typeface="Arial"/>
                          <a:ea typeface="Arial"/>
                          <a:cs typeface="Arial"/>
                        </a:rPr>
                        <a:t>+0,48</a:t>
                      </a:r>
                    </a:p>
                  </a:txBody>
                  <a:tcPr>
                    <a:solidFill>
                      <a:srgbClr val="FFFFFF"/>
                    </a:solidFill>
                  </a:tcPr>
                </a:tc>
                <a:extLst>
                  <a:ext uri="{0D108BD9-81ED-4DB2-BD59-A6C34878D82A}">
                    <a16:rowId xmlns:a16="http://schemas.microsoft.com/office/drawing/2014/main" val="10001"/>
                  </a:ext>
                </a:extLst>
              </a:tr>
              <a:tr h="714375">
                <a:tc>
                  <a:txBody>
                    <a:bodyPr/>
                    <a:lstStyle/>
                    <a:p>
                      <a:r>
                        <a:rPr sz="1950" b="0">
                          <a:solidFill>
                            <a:srgbClr val="183B37"/>
                          </a:solidFill>
                          <a:latin typeface="Arial"/>
                          <a:ea typeface="Arial"/>
                          <a:cs typeface="Arial"/>
                        </a:rPr>
                        <a:t>Chờ ở nhóm đã đón (giây)</a:t>
                      </a:r>
                    </a:p>
                  </a:txBody>
                  <a:tcPr>
                    <a:solidFill>
                      <a:srgbClr val="EDF2EE"/>
                    </a:solidFill>
                  </a:tcPr>
                </a:tc>
                <a:tc>
                  <a:txBody>
                    <a:bodyPr/>
                    <a:lstStyle/>
                    <a:p>
                      <a:r>
                        <a:rPr sz="1950" b="0">
                          <a:solidFill>
                            <a:srgbClr val="183B37"/>
                          </a:solidFill>
                          <a:latin typeface="Arial"/>
                          <a:ea typeface="Arial"/>
                          <a:cs typeface="Arial"/>
                        </a:rPr>
                        <a:t>187,46</a:t>
                      </a:r>
                    </a:p>
                  </a:txBody>
                  <a:tcPr>
                    <a:solidFill>
                      <a:srgbClr val="EDF2EE"/>
                    </a:solidFill>
                  </a:tcPr>
                </a:tc>
                <a:tc>
                  <a:txBody>
                    <a:bodyPr/>
                    <a:lstStyle/>
                    <a:p>
                      <a:r>
                        <a:rPr sz="1950" b="0">
                          <a:solidFill>
                            <a:srgbClr val="183B37"/>
                          </a:solidFill>
                          <a:latin typeface="Arial"/>
                          <a:ea typeface="Arial"/>
                          <a:cs typeface="Arial"/>
                        </a:rPr>
                        <a:t>198,00</a:t>
                      </a:r>
                    </a:p>
                  </a:txBody>
                  <a:tcPr>
                    <a:solidFill>
                      <a:srgbClr val="EDF2EE"/>
                    </a:solidFill>
                  </a:tcPr>
                </a:tc>
                <a:tc>
                  <a:txBody>
                    <a:bodyPr/>
                    <a:lstStyle/>
                    <a:p>
                      <a:r>
                        <a:rPr sz="1950" b="0">
                          <a:solidFill>
                            <a:srgbClr val="183B37"/>
                          </a:solidFill>
                          <a:latin typeface="Arial"/>
                          <a:ea typeface="Arial"/>
                          <a:cs typeface="Arial"/>
                        </a:rPr>
                        <a:t>+10,54</a:t>
                      </a:r>
                    </a:p>
                  </a:txBody>
                  <a:tcPr>
                    <a:solidFill>
                      <a:srgbClr val="EDF2EE"/>
                    </a:solidFill>
                  </a:tcPr>
                </a:tc>
                <a:extLst>
                  <a:ext uri="{0D108BD9-81ED-4DB2-BD59-A6C34878D82A}">
                    <a16:rowId xmlns:a16="http://schemas.microsoft.com/office/drawing/2014/main" val="10002"/>
                  </a:ext>
                </a:extLst>
              </a:tr>
              <a:tr h="714375">
                <a:tc>
                  <a:txBody>
                    <a:bodyPr/>
                    <a:lstStyle/>
                    <a:p>
                      <a:r>
                        <a:rPr sz="1950" b="0">
                          <a:solidFill>
                            <a:srgbClr val="183B37"/>
                          </a:solidFill>
                          <a:latin typeface="Arial"/>
                          <a:ea typeface="Arial"/>
                          <a:cs typeface="Arial"/>
                        </a:rPr>
                        <a:t>Tiền trả tài xế (gross)</a:t>
                      </a:r>
                    </a:p>
                  </a:txBody>
                  <a:tcPr>
                    <a:solidFill>
                      <a:srgbClr val="FFFFFF"/>
                    </a:solidFill>
                  </a:tcPr>
                </a:tc>
                <a:tc>
                  <a:txBody>
                    <a:bodyPr/>
                    <a:lstStyle/>
                    <a:p>
                      <a:r>
                        <a:rPr sz="1950" b="0">
                          <a:solidFill>
                            <a:srgbClr val="183B37"/>
                          </a:solidFill>
                          <a:latin typeface="Arial"/>
                          <a:ea typeface="Arial"/>
                          <a:cs typeface="Arial"/>
                        </a:rPr>
                        <a:t>3,880</a:t>
                      </a:r>
                    </a:p>
                  </a:txBody>
                  <a:tcPr>
                    <a:solidFill>
                      <a:srgbClr val="FFFFFF"/>
                    </a:solidFill>
                  </a:tcPr>
                </a:tc>
                <a:tc>
                  <a:txBody>
                    <a:bodyPr/>
                    <a:lstStyle/>
                    <a:p>
                      <a:r>
                        <a:rPr sz="1950" b="0">
                          <a:solidFill>
                            <a:srgbClr val="183B37"/>
                          </a:solidFill>
                          <a:latin typeface="Arial"/>
                          <a:ea typeface="Arial"/>
                          <a:cs typeface="Arial"/>
                        </a:rPr>
                        <a:t>4,589</a:t>
                      </a:r>
                    </a:p>
                  </a:txBody>
                  <a:tcPr>
                    <a:solidFill>
                      <a:srgbClr val="FFFFFF"/>
                    </a:solidFill>
                  </a:tcPr>
                </a:tc>
                <a:tc>
                  <a:txBody>
                    <a:bodyPr/>
                    <a:lstStyle/>
                    <a:p>
                      <a:r>
                        <a:rPr sz="1950" b="0">
                          <a:solidFill>
                            <a:srgbClr val="183B37"/>
                          </a:solidFill>
                          <a:latin typeface="Arial"/>
                          <a:ea typeface="Arial"/>
                          <a:cs typeface="Arial"/>
                        </a:rPr>
                        <a:t>+0,709</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6B520A7F-499F-42F0-BDAD-315E2EB02E6B}"/>
              </a:ext>
            </a:extLst>
          </p:cNvPr>
          <p:cNvSpPr>
            <a:spLocks noGrp="1"/>
          </p:cNvSpPr>
          <p:nvPr/>
        </p:nvSpPr>
        <p:spPr>
          <a:xfrm>
            <a:off x="685800" y="5429250"/>
            <a:ext cx="10639425" cy="609600"/>
          </a:xfrm>
          <a:prstGeom prst="rect">
            <a:avLst/>
          </a:prstGeom>
          <a:noFill/>
          <a:ln w="0">
            <a:noFill/>
            <a:prstDash val="solid"/>
          </a:ln>
        </p:spPr>
        <p:txBody>
          <a:bodyPr lIns="0" tIns="0" rIns="0" bIns="0" anchor="t"/>
          <a:lstStyle>
            <a:defPPr algn="l">
              <a:defRPr sz="2100" b="1">
                <a:solidFill>
                  <a:srgbClr val="183B37"/>
                </a:solidFill>
                <a:latin typeface="Arial"/>
                <a:ea typeface="Arial"/>
                <a:cs typeface="Arial"/>
              </a:defRPr>
            </a:defPPr>
          </a:lstStyle>
          <a:p>
            <a:pPr algn="l">
              <a:defRPr sz="2100" b="1">
                <a:solidFill>
                  <a:srgbClr val="183B37"/>
                </a:solidFill>
                <a:latin typeface="Arial"/>
                <a:ea typeface="Arial"/>
                <a:cs typeface="Arial"/>
              </a:defRPr>
            </a:pPr>
            <a:r>
              <a:rPr sz="2100" b="1">
                <a:solidFill>
                  <a:srgbClr val="183B37"/>
                </a:solidFill>
                <a:latin typeface="Arial"/>
                <a:ea typeface="Arial"/>
                <a:cs typeface="Arial"/>
              </a:rPr>
              <a:t>Công suất bị giới hạn mạnh: phần lớn yêu cầu hết hạn trước khi được đón.</a:t>
            </a:r>
          </a:p>
        </p:txBody>
      </p:sp>
      <p:sp>
        <p:nvSpPr>
          <p:cNvPr id="7" name="Rectangle 6">
            <a:extLst>
              <a:ext uri="{FF2B5EF4-FFF2-40B4-BE49-F238E27FC236}">
                <a16:creationId xmlns:a16="http://schemas.microsoft.com/office/drawing/2014/main" id="{81DCBB70-7A7A-4568-838F-3FDC595E4E1C}"/>
              </a:ext>
            </a:extLst>
          </p:cNvPr>
          <p:cNvSpPr>
            <a:spLocks noGrp="1"/>
          </p:cNvSpPr>
          <p:nvPr/>
        </p:nvSpPr>
        <p:spPr>
          <a:xfrm>
            <a:off x="685800" y="6067425"/>
            <a:ext cx="10639425" cy="333375"/>
          </a:xfrm>
          <a:prstGeom prst="rect">
            <a:avLst/>
          </a:prstGeom>
          <a:noFill/>
          <a:ln w="0">
            <a:noFill/>
            <a:prstDash val="solid"/>
          </a:ln>
        </p:spPr>
        <p:txBody>
          <a:bodyPr lIns="0" tIns="0" rIns="0" bIns="0" anchor="t"/>
          <a:lstStyle>
            <a:defPPr algn="l">
              <a:defRPr sz="1500" b="1">
                <a:solidFill>
                  <a:srgbClr val="9B5E18"/>
                </a:solidFill>
                <a:latin typeface="Arial"/>
                <a:ea typeface="Arial"/>
                <a:cs typeface="Arial"/>
              </a:defRPr>
            </a:defPPr>
          </a:lstStyle>
          <a:p>
            <a:pPr algn="l">
              <a:defRPr sz="1500" b="1">
                <a:solidFill>
                  <a:srgbClr val="9B5E18"/>
                </a:solidFill>
                <a:latin typeface="Arial"/>
                <a:ea typeface="Arial"/>
                <a:cs typeface="Arial"/>
              </a:defRPr>
            </a:pPr>
            <a:r>
              <a:rPr sz="1500" b="1">
                <a:solidFill>
                  <a:srgbClr val="9B5E18"/>
                </a:solidFill>
                <a:latin typeface="Arial"/>
                <a:ea typeface="Arial"/>
                <a:cs typeface="Arial"/>
              </a:rPr>
              <a:t>Tiền trả tài xế tính bằng SYNTHETIC_UNIT; chưa trừ chi phí. Kết quả chưa đủ để khuyến nghị giá cho GSM.</a:t>
            </a:r>
          </a:p>
        </p:txBody>
      </p:sp>
    </p:spTree>
    <p:extLst>
      <p:ext uri="{BB962C8B-B14F-4D97-AF65-F5344CB8AC3E}">
        <p14:creationId xmlns:p14="http://schemas.microsoft.com/office/powerpoint/2010/main" val="103539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B4EDFD78-7DB7-49FA-9C68-247424C0D6AD}"/>
              </a:ext>
            </a:extLst>
          </p:cNvPr>
          <p:cNvSpPr>
            <a:spLocks noGrp="1"/>
          </p:cNvSpPr>
          <p:nvPr/>
        </p:nvSpPr>
        <p:spPr>
          <a:xfrm>
            <a:off x="685800" y="457200"/>
            <a:ext cx="10820400" cy="666750"/>
          </a:xfrm>
          <a:prstGeom prst="rect">
            <a:avLst/>
          </a:prstGeom>
          <a:noFill/>
          <a:ln w="0">
            <a:noFill/>
            <a:prstDash val="solid"/>
          </a:ln>
        </p:spPr>
        <p:txBody>
          <a:bodyPr lIns="0" tIns="0" rIns="0" bIns="0" anchor="t"/>
          <a:lstStyle>
            <a:defPPr algn="l">
              <a:defRPr sz="3150" b="1">
                <a:solidFill>
                  <a:srgbClr val="183B37"/>
                </a:solidFill>
                <a:latin typeface="Arial"/>
                <a:ea typeface="Arial"/>
                <a:cs typeface="Arial"/>
              </a:defRPr>
            </a:defPPr>
          </a:lstStyle>
          <a:p>
            <a:pPr algn="l">
              <a:defRPr sz="3150" b="1">
                <a:solidFill>
                  <a:srgbClr val="183B37"/>
                </a:solidFill>
                <a:latin typeface="Arial"/>
                <a:ea typeface="Arial"/>
                <a:cs typeface="Arial"/>
              </a:defRPr>
            </a:pPr>
            <a:r>
              <a:rPr sz="3150" b="1">
                <a:solidFill>
                  <a:srgbClr val="183B37"/>
                </a:solidFill>
                <a:latin typeface="Arial"/>
                <a:ea typeface="Arial"/>
                <a:cs typeface="Arial"/>
              </a:rPr>
              <a:t>Đã làm được gì và còn thiếu gì</a:t>
            </a:r>
          </a:p>
        </p:txBody>
      </p:sp>
      <p:sp>
        <p:nvSpPr>
          <p:cNvPr id="2" name="Rectangle 1">
            <a:extLst>
              <a:ext uri="{FF2B5EF4-FFF2-40B4-BE49-F238E27FC236}">
                <a16:creationId xmlns:a16="http://schemas.microsoft.com/office/drawing/2014/main" id="{DB067FE4-18A6-41B0-A245-980B93FF3942}"/>
              </a:ext>
            </a:extLst>
          </p:cNvPr>
          <p:cNvSpPr>
            <a:spLocks noGrp="1"/>
          </p:cNvSpPr>
          <p:nvPr/>
        </p:nvSpPr>
        <p:spPr>
          <a:xfrm>
            <a:off x="685800" y="1190625"/>
            <a:ext cx="10820400" cy="571500"/>
          </a:xfrm>
          <a:prstGeom prst="rect">
            <a:avLst/>
          </a:prstGeom>
          <a:noFill/>
          <a:ln w="0">
            <a:noFill/>
            <a:prstDash val="solid"/>
          </a:ln>
        </p:spPr>
        <p:txBody>
          <a:bodyPr lIns="0" tIns="0" rIns="0" bIns="0" anchor="t"/>
          <a:lstStyle>
            <a:defPPr algn="l">
              <a:defRPr sz="1725" b="0">
                <a:solidFill>
                  <a:srgbClr val="536663"/>
                </a:solidFill>
                <a:latin typeface="Arial"/>
                <a:ea typeface="Arial"/>
                <a:cs typeface="Arial"/>
              </a:defRPr>
            </a:defPPr>
          </a:lstStyle>
          <a:p>
            <a:pPr algn="l">
              <a:defRPr sz="1725" b="0">
                <a:solidFill>
                  <a:srgbClr val="536663"/>
                </a:solidFill>
                <a:latin typeface="Arial"/>
                <a:ea typeface="Arial"/>
                <a:cs typeface="Arial"/>
              </a:defRPr>
            </a:pPr>
            <a:r>
              <a:rPr sz="1725" b="0">
                <a:solidFill>
                  <a:srgbClr val="536663"/>
                </a:solidFill>
                <a:latin typeface="Arial"/>
                <a:ea typeface="Arial"/>
                <a:cs typeface="Arial"/>
              </a:rPr>
              <a:t>Trạng thái trong phạm vi PoC hiện tại, trước khi hiệu chỉnh trên dữ liệu GSM</a:t>
            </a:r>
          </a:p>
        </p:txBody>
      </p:sp>
      <p:sp>
        <p:nvSpPr>
          <p:cNvPr id="3" name="Rectangle 2">
            <a:extLst>
              <a:ext uri="{FF2B5EF4-FFF2-40B4-BE49-F238E27FC236}">
                <a16:creationId xmlns:a16="http://schemas.microsoft.com/office/drawing/2014/main" id="{4FCEA090-5D49-42A8-B28E-3CED569D0A67}"/>
              </a:ext>
            </a:extLst>
          </p:cNvPr>
          <p:cNvSpPr>
            <a:spLocks noGrp="1"/>
          </p:cNvSpPr>
          <p:nvPr/>
        </p:nvSpPr>
        <p:spPr>
          <a:xfrm>
            <a:off x="685800" y="1819275"/>
            <a:ext cx="10820400" cy="19050"/>
          </a:xfrm>
          <a:prstGeom prst="rect">
            <a:avLst/>
          </a:prstGeom>
          <a:solidFill>
            <a:srgbClr val="CDD8D2"/>
          </a:solidFill>
          <a:ln w="0">
            <a:noFill/>
            <a:prstDash val="solid"/>
          </a:ln>
        </p:spPr>
        <p:txBody>
          <a:bodyPr/>
          <a:lstStyle/>
          <a:p>
            <a:endParaRPr lang="en-US"/>
          </a:p>
        </p:txBody>
      </p:sp>
      <p:sp>
        <p:nvSpPr>
          <p:cNvPr id="4" name="Rectangle 3">
            <a:extLst>
              <a:ext uri="{FF2B5EF4-FFF2-40B4-BE49-F238E27FC236}">
                <a16:creationId xmlns:a16="http://schemas.microsoft.com/office/drawing/2014/main" id="{06BB2371-4DE7-4AF8-8E01-C570DFE562CF}"/>
              </a:ext>
            </a:extLst>
          </p:cNvPr>
          <p:cNvSpPr>
            <a:spLocks noGrp="1"/>
          </p:cNvSpPr>
          <p:nvPr/>
        </p:nvSpPr>
        <p:spPr>
          <a:xfrm>
            <a:off x="685800" y="2162175"/>
            <a:ext cx="3390900" cy="3705225"/>
          </a:xfrm>
          <a:prstGeom prst="rect">
            <a:avLst/>
          </a:prstGeom>
          <a:solidFill>
            <a:srgbClr val="EDF2EE"/>
          </a:solidFill>
          <a:ln w="0">
            <a:noFill/>
            <a:prstDash val="solid"/>
          </a:ln>
        </p:spPr>
        <p:txBody>
          <a:bodyPr/>
          <a:lstStyle/>
          <a:p>
            <a:endParaRPr lang="en-US"/>
          </a:p>
        </p:txBody>
      </p:sp>
      <p:sp>
        <p:nvSpPr>
          <p:cNvPr id="5" name="Rectangle: Rounded Corners 4">
            <a:extLst>
              <a:ext uri="{FF2B5EF4-FFF2-40B4-BE49-F238E27FC236}">
                <a16:creationId xmlns:a16="http://schemas.microsoft.com/office/drawing/2014/main" id="{B0F29794-142A-4D1F-976B-1315ED79F9FF}"/>
              </a:ext>
            </a:extLst>
          </p:cNvPr>
          <p:cNvSpPr>
            <a:spLocks noGrp="1"/>
          </p:cNvSpPr>
          <p:nvPr/>
        </p:nvSpPr>
        <p:spPr>
          <a:xfrm>
            <a:off x="838200" y="2352675"/>
            <a:ext cx="3086100" cy="504825"/>
          </a:xfrm>
          <a:prstGeom prst="roundRect">
            <a:avLst>
              <a:gd name="adj" fmla="val 15094"/>
            </a:avLst>
          </a:prstGeom>
          <a:solidFill>
            <a:srgbClr val="087F78"/>
          </a:solidFill>
          <a:ln w="0">
            <a:noFill/>
            <a:prstDash val="solid"/>
          </a:ln>
        </p:spPr>
        <p:txBody>
          <a:bodyPr/>
          <a:lstStyle/>
          <a:p>
            <a:endParaRPr lang="en-US"/>
          </a:p>
        </p:txBody>
      </p:sp>
      <p:sp>
        <p:nvSpPr>
          <p:cNvPr id="6" name="Rectangle 5">
            <a:extLst>
              <a:ext uri="{FF2B5EF4-FFF2-40B4-BE49-F238E27FC236}">
                <a16:creationId xmlns:a16="http://schemas.microsoft.com/office/drawing/2014/main" id="{1E38F8EF-62AC-4C5D-A7E9-67F4A8DD07E1}"/>
              </a:ext>
            </a:extLst>
          </p:cNvPr>
          <p:cNvSpPr>
            <a:spLocks noGrp="1"/>
          </p:cNvSpPr>
          <p:nvPr/>
        </p:nvSpPr>
        <p:spPr>
          <a:xfrm>
            <a:off x="933450" y="2466975"/>
            <a:ext cx="2895600" cy="342900"/>
          </a:xfrm>
          <a:prstGeom prst="rect">
            <a:avLst/>
          </a:prstGeom>
          <a:noFill/>
          <a:ln w="0">
            <a:noFill/>
            <a:prstDash val="solid"/>
          </a:ln>
        </p:spPr>
        <p:txBody>
          <a:bodyPr lIns="0" tIns="0" rIns="0" bIns="0" anchor="t"/>
          <a:lstStyle>
            <a:defPPr algn="ctr">
              <a:defRPr sz="1950" b="1">
                <a:solidFill>
                  <a:srgbClr val="FFFFFF"/>
                </a:solidFill>
                <a:latin typeface="Arial"/>
                <a:ea typeface="Arial"/>
                <a:cs typeface="Arial"/>
              </a:defRPr>
            </a:defPPr>
          </a:lstStyle>
          <a:p>
            <a:pPr algn="ctr">
              <a:defRPr sz="1950" b="1">
                <a:solidFill>
                  <a:srgbClr val="FFFFFF"/>
                </a:solidFill>
                <a:latin typeface="Arial"/>
                <a:ea typeface="Arial"/>
                <a:cs typeface="Arial"/>
              </a:defRPr>
            </a:pPr>
            <a:r>
              <a:rPr sz="1950" b="1">
                <a:solidFill>
                  <a:srgbClr val="FFFFFF"/>
                </a:solidFill>
                <a:latin typeface="Arial"/>
                <a:ea typeface="Arial"/>
                <a:cs typeface="Arial"/>
              </a:rPr>
              <a:t>Đã triển khai</a:t>
            </a:r>
          </a:p>
        </p:txBody>
      </p:sp>
      <p:sp>
        <p:nvSpPr>
          <p:cNvPr id="7" name="Rectangle 6">
            <a:extLst>
              <a:ext uri="{FF2B5EF4-FFF2-40B4-BE49-F238E27FC236}">
                <a16:creationId xmlns:a16="http://schemas.microsoft.com/office/drawing/2014/main" id="{5C97B6EF-CE68-4C5E-8B8A-71B9D3BDF196}"/>
              </a:ext>
            </a:extLst>
          </p:cNvPr>
          <p:cNvSpPr>
            <a:spLocks noGrp="1"/>
          </p:cNvSpPr>
          <p:nvPr/>
        </p:nvSpPr>
        <p:spPr>
          <a:xfrm>
            <a:off x="895350" y="3076575"/>
            <a:ext cx="2971800" cy="2667000"/>
          </a:xfrm>
          <a:prstGeom prst="rect">
            <a:avLst/>
          </a:prstGeom>
          <a:noFill/>
          <a:ln w="0">
            <a:noFill/>
            <a:prstDash val="solid"/>
          </a:ln>
        </p:spPr>
        <p:txBody>
          <a:bodyPr lIns="0" tIns="0" rIns="0" bIns="0">
            <a:noAutofit/>
          </a:bodyPr>
          <a:lstStyle>
            <a:defPPr>
              <a:defRPr sz="1800">
                <a:solidFill>
                  <a:srgbClr val="183B37"/>
                </a:solidFill>
                <a:latin typeface="Arial"/>
                <a:ea typeface="Arial"/>
                <a:cs typeface="Arial"/>
              </a:defRPr>
            </a:defPPr>
          </a:lstStyle>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Pipeline dữ liệu NYC TLC</a:t>
            </a:r>
          </a:p>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Ước lượng lựa chọn X/Y/không đặt</a:t>
            </a:r>
          </a:p>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Ghép chuyến và trả công</a:t>
            </a:r>
          </a:p>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Dashboard và xuất kết quả</a:t>
            </a:r>
          </a:p>
        </p:txBody>
      </p:sp>
      <p:sp>
        <p:nvSpPr>
          <p:cNvPr id="8" name="Rectangle 7">
            <a:extLst>
              <a:ext uri="{FF2B5EF4-FFF2-40B4-BE49-F238E27FC236}">
                <a16:creationId xmlns:a16="http://schemas.microsoft.com/office/drawing/2014/main" id="{14C2260C-0FE7-43AA-91E5-743401D4C431}"/>
              </a:ext>
            </a:extLst>
          </p:cNvPr>
          <p:cNvSpPr>
            <a:spLocks noGrp="1"/>
          </p:cNvSpPr>
          <p:nvPr/>
        </p:nvSpPr>
        <p:spPr>
          <a:xfrm>
            <a:off x="4400550" y="2162175"/>
            <a:ext cx="3390900" cy="3705225"/>
          </a:xfrm>
          <a:prstGeom prst="rect">
            <a:avLst/>
          </a:prstGeom>
          <a:solidFill>
            <a:srgbClr val="EDF2EE"/>
          </a:solidFill>
          <a:ln w="0">
            <a:noFill/>
            <a:prstDash val="solid"/>
          </a:ln>
        </p:spPr>
        <p:txBody>
          <a:bodyPr/>
          <a:lstStyle/>
          <a:p>
            <a:endParaRPr lang="en-US"/>
          </a:p>
        </p:txBody>
      </p:sp>
      <p:sp>
        <p:nvSpPr>
          <p:cNvPr id="9" name="Rectangle: Rounded Corners 8">
            <a:extLst>
              <a:ext uri="{FF2B5EF4-FFF2-40B4-BE49-F238E27FC236}">
                <a16:creationId xmlns:a16="http://schemas.microsoft.com/office/drawing/2014/main" id="{90431D26-C17F-4D74-B213-4125A7F94825}"/>
              </a:ext>
            </a:extLst>
          </p:cNvPr>
          <p:cNvSpPr>
            <a:spLocks noGrp="1"/>
          </p:cNvSpPr>
          <p:nvPr/>
        </p:nvSpPr>
        <p:spPr>
          <a:xfrm>
            <a:off x="4552950" y="2352675"/>
            <a:ext cx="3086100" cy="504825"/>
          </a:xfrm>
          <a:prstGeom prst="roundRect">
            <a:avLst>
              <a:gd name="adj" fmla="val 15094"/>
            </a:avLst>
          </a:prstGeom>
          <a:solidFill>
            <a:srgbClr val="9B5E18"/>
          </a:solidFill>
          <a:ln w="0">
            <a:noFill/>
            <a:prstDash val="solid"/>
          </a:ln>
        </p:spPr>
        <p:txBody>
          <a:bodyPr/>
          <a:lstStyle/>
          <a:p>
            <a:endParaRPr lang="en-US"/>
          </a:p>
        </p:txBody>
      </p:sp>
      <p:sp>
        <p:nvSpPr>
          <p:cNvPr id="10" name="Rectangle 9">
            <a:extLst>
              <a:ext uri="{FF2B5EF4-FFF2-40B4-BE49-F238E27FC236}">
                <a16:creationId xmlns:a16="http://schemas.microsoft.com/office/drawing/2014/main" id="{CF312677-255A-416A-A875-7FBB049CB70D}"/>
              </a:ext>
            </a:extLst>
          </p:cNvPr>
          <p:cNvSpPr>
            <a:spLocks noGrp="1"/>
          </p:cNvSpPr>
          <p:nvPr/>
        </p:nvSpPr>
        <p:spPr>
          <a:xfrm>
            <a:off x="4648200" y="2466975"/>
            <a:ext cx="2895600" cy="342900"/>
          </a:xfrm>
          <a:prstGeom prst="rect">
            <a:avLst/>
          </a:prstGeom>
          <a:noFill/>
          <a:ln w="0">
            <a:noFill/>
            <a:prstDash val="solid"/>
          </a:ln>
        </p:spPr>
        <p:txBody>
          <a:bodyPr lIns="0" tIns="0" rIns="0" bIns="0" anchor="t"/>
          <a:lstStyle>
            <a:defPPr algn="ctr">
              <a:defRPr sz="1950" b="1">
                <a:solidFill>
                  <a:srgbClr val="FFFFFF"/>
                </a:solidFill>
                <a:latin typeface="Arial"/>
                <a:ea typeface="Arial"/>
                <a:cs typeface="Arial"/>
              </a:defRPr>
            </a:defPPr>
          </a:lstStyle>
          <a:p>
            <a:pPr algn="ctr">
              <a:defRPr sz="1950" b="1">
                <a:solidFill>
                  <a:srgbClr val="FFFFFF"/>
                </a:solidFill>
                <a:latin typeface="Arial"/>
                <a:ea typeface="Arial"/>
                <a:cs typeface="Arial"/>
              </a:defRPr>
            </a:pPr>
            <a:r>
              <a:rPr sz="1950" b="1">
                <a:solidFill>
                  <a:srgbClr val="FFFFFF"/>
                </a:solidFill>
                <a:latin typeface="Arial"/>
                <a:ea typeface="Arial"/>
                <a:cs typeface="Arial"/>
              </a:rPr>
              <a:t>Đã có một phần</a:t>
            </a:r>
          </a:p>
        </p:txBody>
      </p:sp>
      <p:sp>
        <p:nvSpPr>
          <p:cNvPr id="11" name="Rectangle 10">
            <a:extLst>
              <a:ext uri="{FF2B5EF4-FFF2-40B4-BE49-F238E27FC236}">
                <a16:creationId xmlns:a16="http://schemas.microsoft.com/office/drawing/2014/main" id="{8B4928A4-03D0-40AF-931D-C8FDA81667F4}"/>
              </a:ext>
            </a:extLst>
          </p:cNvPr>
          <p:cNvSpPr>
            <a:spLocks noGrp="1"/>
          </p:cNvSpPr>
          <p:nvPr/>
        </p:nvSpPr>
        <p:spPr>
          <a:xfrm>
            <a:off x="4610100" y="3076575"/>
            <a:ext cx="2971800" cy="2667000"/>
          </a:xfrm>
          <a:prstGeom prst="rect">
            <a:avLst/>
          </a:prstGeom>
          <a:noFill/>
          <a:ln w="0">
            <a:noFill/>
            <a:prstDash val="solid"/>
          </a:ln>
        </p:spPr>
        <p:txBody>
          <a:bodyPr lIns="0" tIns="0" rIns="0" bIns="0">
            <a:noAutofit/>
          </a:bodyPr>
          <a:lstStyle>
            <a:defPPr>
              <a:defRPr sz="1800">
                <a:solidFill>
                  <a:srgbClr val="183B37"/>
                </a:solidFill>
                <a:latin typeface="Arial"/>
                <a:ea typeface="Arial"/>
                <a:cs typeface="Arial"/>
              </a:defRPr>
            </a:defPPr>
          </a:lstStyle>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Kịch bản giá: đã có trên dữ liệu synthetic</a:t>
            </a:r>
          </a:p>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Tài xế: đã có nhận/từ chối, giữ online cố định</a:t>
            </a:r>
          </a:p>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Khoảng bất định: chưa bao quát toàn chuỗi</a:t>
            </a:r>
          </a:p>
        </p:txBody>
      </p:sp>
      <p:sp>
        <p:nvSpPr>
          <p:cNvPr id="12" name="Rectangle 11">
            <a:extLst>
              <a:ext uri="{FF2B5EF4-FFF2-40B4-BE49-F238E27FC236}">
                <a16:creationId xmlns:a16="http://schemas.microsoft.com/office/drawing/2014/main" id="{1BBDCB50-560C-4554-A2CE-1AC6780B9AAC}"/>
              </a:ext>
            </a:extLst>
          </p:cNvPr>
          <p:cNvSpPr>
            <a:spLocks noGrp="1"/>
          </p:cNvSpPr>
          <p:nvPr/>
        </p:nvSpPr>
        <p:spPr>
          <a:xfrm>
            <a:off x="8115300" y="2162175"/>
            <a:ext cx="3390900" cy="3705225"/>
          </a:xfrm>
          <a:prstGeom prst="rect">
            <a:avLst/>
          </a:prstGeom>
          <a:solidFill>
            <a:srgbClr val="EDF2EE"/>
          </a:solidFill>
          <a:ln w="0">
            <a:noFill/>
            <a:prstDash val="solid"/>
          </a:ln>
        </p:spPr>
        <p:txBody>
          <a:bodyPr/>
          <a:lstStyle/>
          <a:p>
            <a:endParaRPr lang="en-US"/>
          </a:p>
        </p:txBody>
      </p:sp>
      <p:sp>
        <p:nvSpPr>
          <p:cNvPr id="13" name="Rectangle: Rounded Corners 12">
            <a:extLst>
              <a:ext uri="{FF2B5EF4-FFF2-40B4-BE49-F238E27FC236}">
                <a16:creationId xmlns:a16="http://schemas.microsoft.com/office/drawing/2014/main" id="{29AF1B4F-45B8-4120-9A06-2F3C1901371D}"/>
              </a:ext>
            </a:extLst>
          </p:cNvPr>
          <p:cNvSpPr>
            <a:spLocks noGrp="1"/>
          </p:cNvSpPr>
          <p:nvPr/>
        </p:nvSpPr>
        <p:spPr>
          <a:xfrm>
            <a:off x="8267700" y="2352675"/>
            <a:ext cx="3086100" cy="504825"/>
          </a:xfrm>
          <a:prstGeom prst="roundRect">
            <a:avLst>
              <a:gd name="adj" fmla="val 15094"/>
            </a:avLst>
          </a:prstGeom>
          <a:solidFill>
            <a:srgbClr val="536663"/>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DA08BF67-C527-4C2F-B5A3-E449F5F06B50}"/>
              </a:ext>
            </a:extLst>
          </p:cNvPr>
          <p:cNvSpPr>
            <a:spLocks noGrp="1"/>
          </p:cNvSpPr>
          <p:nvPr/>
        </p:nvSpPr>
        <p:spPr>
          <a:xfrm>
            <a:off x="8362950" y="2466975"/>
            <a:ext cx="2895600" cy="342900"/>
          </a:xfrm>
          <a:prstGeom prst="rect">
            <a:avLst/>
          </a:prstGeom>
          <a:noFill/>
          <a:ln w="0">
            <a:noFill/>
            <a:prstDash val="solid"/>
          </a:ln>
        </p:spPr>
        <p:txBody>
          <a:bodyPr lIns="0" tIns="0" rIns="0" bIns="0" anchor="t"/>
          <a:lstStyle>
            <a:defPPr algn="ctr">
              <a:defRPr sz="1950" b="1">
                <a:solidFill>
                  <a:srgbClr val="FFFFFF"/>
                </a:solidFill>
                <a:latin typeface="Arial"/>
                <a:ea typeface="Arial"/>
                <a:cs typeface="Arial"/>
              </a:defRPr>
            </a:defPPr>
          </a:lstStyle>
          <a:p>
            <a:pPr algn="ctr">
              <a:defRPr sz="1950" b="1">
                <a:solidFill>
                  <a:srgbClr val="FFFFFF"/>
                </a:solidFill>
                <a:latin typeface="Arial"/>
                <a:ea typeface="Arial"/>
                <a:cs typeface="Arial"/>
              </a:defRPr>
            </a:pPr>
            <a:r>
              <a:rPr sz="1950" b="1">
                <a:solidFill>
                  <a:srgbClr val="FFFFFF"/>
                </a:solidFill>
                <a:latin typeface="Arial"/>
                <a:ea typeface="Arial"/>
                <a:cs typeface="Arial"/>
              </a:rPr>
              <a:t>Chưa hoàn thành</a:t>
            </a:r>
          </a:p>
        </p:txBody>
      </p:sp>
      <p:sp>
        <p:nvSpPr>
          <p:cNvPr id="15" name="Rectangle 14">
            <a:extLst>
              <a:ext uri="{FF2B5EF4-FFF2-40B4-BE49-F238E27FC236}">
                <a16:creationId xmlns:a16="http://schemas.microsoft.com/office/drawing/2014/main" id="{539E4096-1BDF-4852-97EB-2D65279619E3}"/>
              </a:ext>
            </a:extLst>
          </p:cNvPr>
          <p:cNvSpPr>
            <a:spLocks noGrp="1"/>
          </p:cNvSpPr>
          <p:nvPr/>
        </p:nvSpPr>
        <p:spPr>
          <a:xfrm>
            <a:off x="8324850" y="3076575"/>
            <a:ext cx="2971800" cy="2667000"/>
          </a:xfrm>
          <a:prstGeom prst="rect">
            <a:avLst/>
          </a:prstGeom>
          <a:noFill/>
          <a:ln w="0">
            <a:noFill/>
            <a:prstDash val="solid"/>
          </a:ln>
        </p:spPr>
        <p:txBody>
          <a:bodyPr lIns="0" tIns="0" rIns="0" bIns="0">
            <a:noAutofit/>
          </a:bodyPr>
          <a:lstStyle>
            <a:defPPr>
              <a:defRPr sz="1800">
                <a:solidFill>
                  <a:srgbClr val="183B37"/>
                </a:solidFill>
                <a:latin typeface="Arial"/>
                <a:ea typeface="Arial"/>
                <a:cs typeface="Arial"/>
              </a:defRPr>
            </a:defPPr>
          </a:lstStyle>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Hiệu chỉnh và kiểm chứng bằng dữ liệu GSM</a:t>
            </a:r>
          </a:p>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Đưa online/offline và phản ứng giờ làm vào marketplace</a:t>
            </a:r>
          </a:p>
          <a:p>
            <a:pPr marL="203200" indent="-101600">
              <a:spcAft>
                <a:spcPts val="1300"/>
              </a:spcAft>
              <a:buChar char="•"/>
              <a:defRPr sz="1800">
                <a:solidFill>
                  <a:srgbClr val="183B37"/>
                </a:solidFill>
                <a:latin typeface="Arial"/>
                <a:ea typeface="Arial"/>
                <a:cs typeface="Arial"/>
              </a:defRPr>
            </a:pPr>
            <a:r>
              <a:rPr sz="1800">
                <a:solidFill>
                  <a:srgbClr val="183B37"/>
                </a:solidFill>
                <a:latin typeface="Arial"/>
                <a:ea typeface="Arial"/>
                <a:cs typeface="Arial"/>
              </a:rPr>
              <a:t>Cân bằng cung–cầu, lợi nhuận và ROI thực tế</a:t>
            </a:r>
          </a:p>
        </p:txBody>
      </p:sp>
      <p:sp>
        <p:nvSpPr>
          <p:cNvPr id="16" name="Rectangle 15">
            <a:extLst>
              <a:ext uri="{FF2B5EF4-FFF2-40B4-BE49-F238E27FC236}">
                <a16:creationId xmlns:a16="http://schemas.microsoft.com/office/drawing/2014/main" id="{B3E356E2-9056-4B77-9BE6-4402E2F3BAB3}"/>
              </a:ext>
            </a:extLst>
          </p:cNvPr>
          <p:cNvSpPr>
            <a:spLocks noGrp="1"/>
          </p:cNvSpPr>
          <p:nvPr/>
        </p:nvSpPr>
        <p:spPr>
          <a:xfrm>
            <a:off x="685800" y="6076950"/>
            <a:ext cx="10820400" cy="352425"/>
          </a:xfrm>
          <a:prstGeom prst="rect">
            <a:avLst/>
          </a:prstGeom>
          <a:noFill/>
          <a:ln w="0">
            <a:noFill/>
            <a:prstDash val="solid"/>
          </a:ln>
        </p:spPr>
        <p:txBody>
          <a:bodyPr lIns="0" tIns="0" rIns="0" bIns="0" anchor="t"/>
          <a:lstStyle>
            <a:defPPr algn="l">
              <a:defRPr sz="1725" b="1">
                <a:solidFill>
                  <a:srgbClr val="9B5E18"/>
                </a:solidFill>
                <a:latin typeface="Arial"/>
                <a:ea typeface="Arial"/>
                <a:cs typeface="Arial"/>
              </a:defRPr>
            </a:defPPr>
          </a:lstStyle>
          <a:p>
            <a:pPr algn="l">
              <a:defRPr sz="1725" b="1">
                <a:solidFill>
                  <a:srgbClr val="9B5E18"/>
                </a:solidFill>
                <a:latin typeface="Arial"/>
                <a:ea typeface="Arial"/>
                <a:cs typeface="Arial"/>
              </a:defRPr>
            </a:pPr>
            <a:r>
              <a:rPr sz="1725" b="1">
                <a:solidFill>
                  <a:srgbClr val="9B5E18"/>
                </a:solidFill>
                <a:latin typeface="Arial"/>
                <a:ea typeface="Arial"/>
                <a:cs typeface="Arial"/>
              </a:rPr>
              <a:t>Phần đã triển khai vận hành trên dữ liệu giả lập. Kết quả thực tế cần dữ liệu GSM.</a:t>
            </a:r>
          </a:p>
        </p:txBody>
      </p:sp>
      <p:sp>
        <p:nvSpPr>
          <p:cNvPr id="17" name="Rectangle 16">
            <a:extLst>
              <a:ext uri="{FF2B5EF4-FFF2-40B4-BE49-F238E27FC236}">
                <a16:creationId xmlns:a16="http://schemas.microsoft.com/office/drawing/2014/main" id="{BE3A9277-2795-4D5F-96BA-D46246F2C0CD}"/>
              </a:ext>
            </a:extLst>
          </p:cNvPr>
          <p:cNvSpPr>
            <a:spLocks noGrp="1"/>
          </p:cNvSpPr>
          <p:nvPr/>
        </p:nvSpPr>
        <p:spPr>
          <a:xfrm>
            <a:off x="10934700" y="6438900"/>
            <a:ext cx="571500" cy="238125"/>
          </a:xfrm>
          <a:prstGeom prst="rect">
            <a:avLst/>
          </a:prstGeom>
          <a:noFill/>
          <a:ln w="0">
            <a:noFill/>
            <a:prstDash val="solid"/>
          </a:ln>
        </p:spPr>
        <p:txBody>
          <a:bodyPr lIns="0" tIns="0" rIns="0" bIns="0" anchor="t"/>
          <a:lstStyle>
            <a:defPPr algn="r">
              <a:defRPr sz="1200" b="0">
                <a:solidFill>
                  <a:srgbClr val="536663"/>
                </a:solidFill>
                <a:latin typeface="Arial"/>
                <a:ea typeface="Arial"/>
                <a:cs typeface="Arial"/>
              </a:defRPr>
            </a:defPPr>
          </a:lstStyle>
          <a:p>
            <a:pPr algn="r">
              <a:defRPr sz="1200" b="0">
                <a:solidFill>
                  <a:srgbClr val="536663"/>
                </a:solidFill>
                <a:latin typeface="Arial"/>
                <a:ea typeface="Arial"/>
                <a:cs typeface="Arial"/>
              </a:defRPr>
            </a:pPr>
            <a:r>
              <a:rPr sz="1200" b="0">
                <a:solidFill>
                  <a:srgbClr val="536663"/>
                </a:solidFill>
                <a:latin typeface="Arial"/>
                <a:ea typeface="Arial"/>
                <a:cs typeface="Arial"/>
              </a:rPr>
              <a:t>09</a:t>
            </a:r>
          </a:p>
        </p:txBody>
      </p:sp>
    </p:spTree>
    <p:extLst>
      <p:ext uri="{BB962C8B-B14F-4D97-AF65-F5344CB8AC3E}">
        <p14:creationId xmlns:p14="http://schemas.microsoft.com/office/powerpoint/2010/main" val="20360991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2108</Words>
  <Application>Microsoft Office PowerPoint</Application>
  <DocSecurity>0</DocSecurity>
  <PresentationFormat>Widescreen</PresentationFormat>
  <Paragraphs>155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Nguyen Thanh An 20225541</cp:lastModifiedBy>
  <cp:revision>6</cp:revision>
  <dcterms:created xsi:type="dcterms:W3CDTF">2026-10-12T14:03:30Z</dcterms:created>
  <dcterms:modified xsi:type="dcterms:W3CDTF">2026-10-13T08:45:35Z</dcterms:modified>
</cp:coreProperties>
</file>